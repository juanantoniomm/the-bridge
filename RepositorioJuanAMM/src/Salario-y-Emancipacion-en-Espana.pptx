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4630400" cy="8229600"/>
  <p:notesSz cx="8229600" cy="14630400"/>
  <p:embeddedFontLst>
    <p:embeddedFont>
      <p:font typeface="Inter" panose="020B0604020202020204" charset="0"/>
      <p:regular r:id="rId19"/>
    </p:embeddedFont>
  </p:embeddedFont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446" y="77"/>
      </p:cViewPr>
      <p:guideLst/>
    </p:cSldViewPr>
  </p:slideViewPr>
  <p:notesTextViewPr>
    <p:cViewPr>
      <p:scale>
        <a:sx n="3" d="2"/>
        <a:sy n="3" d="2"/>
      </p:scale>
      <p:origin x="0" y="-5"/>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03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s-ES"/>
          </a:p>
        </p:txBody>
      </p:sp>
      <p:sp>
        <p:nvSpPr>
          <p:cNvPr id="3" name="Shape 1"/>
          <p:cNvSpPr/>
          <p:nvPr/>
        </p:nvSpPr>
        <p:spPr>
          <a:xfrm>
            <a:off x="0" y="0"/>
            <a:ext cx="14630400" cy="8229600"/>
          </a:xfrm>
          <a:prstGeom prst="rect">
            <a:avLst/>
          </a:prstGeom>
          <a:solidFill>
            <a:srgbClr val="FFFFFF"/>
          </a:solidFill>
          <a:ln/>
        </p:spPr>
        <p:txBody>
          <a:bodyPr/>
          <a:lstStyle/>
          <a:p>
            <a:endParaRPr lang="es-E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sv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167176"/>
            <a:ext cx="9434632"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Salario y Emancipación en España</a:t>
            </a:r>
            <a:endParaRPr lang="en-US" sz="4450" dirty="0"/>
          </a:p>
        </p:txBody>
      </p:sp>
      <p:sp>
        <p:nvSpPr>
          <p:cNvPr id="3" name="Text 1"/>
          <p:cNvSpPr/>
          <p:nvPr/>
        </p:nvSpPr>
        <p:spPr>
          <a:xfrm>
            <a:off x="793790" y="3329583"/>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Análisis exploratorio de datos · 2018–2020</a:t>
            </a:r>
            <a:endParaRPr lang="en-US" sz="1750" dirty="0"/>
          </a:p>
        </p:txBody>
      </p:sp>
      <p:sp>
        <p:nvSpPr>
          <p:cNvPr id="4" name="Shape 2"/>
          <p:cNvSpPr/>
          <p:nvPr/>
        </p:nvSpPr>
        <p:spPr>
          <a:xfrm>
            <a:off x="793790" y="4004310"/>
            <a:ext cx="13042821" cy="16907"/>
          </a:xfrm>
          <a:prstGeom prst="rect">
            <a:avLst/>
          </a:prstGeom>
          <a:solidFill>
            <a:srgbClr val="272525">
              <a:alpha val="50000"/>
            </a:srgbClr>
          </a:solidFill>
          <a:ln/>
        </p:spPr>
        <p:txBody>
          <a:bodyPr/>
          <a:lstStyle/>
          <a:p>
            <a:endParaRPr lang="es-ES"/>
          </a:p>
        </p:txBody>
      </p:sp>
      <p:sp>
        <p:nvSpPr>
          <p:cNvPr id="5" name="Shape 3"/>
          <p:cNvSpPr/>
          <p:nvPr/>
        </p:nvSpPr>
        <p:spPr>
          <a:xfrm>
            <a:off x="630436" y="4333042"/>
            <a:ext cx="7930991" cy="1729264"/>
          </a:xfrm>
          <a:prstGeom prst="roundRect">
            <a:avLst>
              <a:gd name="adj" fmla="val 9444"/>
            </a:avLst>
          </a:prstGeom>
          <a:solidFill>
            <a:srgbClr val="1A1A2E"/>
          </a:solidFill>
          <a:ln/>
        </p:spPr>
        <p:txBody>
          <a:bodyPr/>
          <a:lstStyle/>
          <a:p>
            <a:endParaRPr lang="es-ES"/>
          </a:p>
        </p:txBody>
      </p:sp>
      <p:sp>
        <p:nvSpPr>
          <p:cNvPr id="6" name="Text 4"/>
          <p:cNvSpPr/>
          <p:nvPr/>
        </p:nvSpPr>
        <p:spPr>
          <a:xfrm>
            <a:off x="857250" y="4559856"/>
            <a:ext cx="7477363" cy="708660"/>
          </a:xfrm>
          <a:prstGeom prst="rect">
            <a:avLst/>
          </a:prstGeom>
          <a:noFill/>
          <a:ln/>
        </p:spPr>
        <p:txBody>
          <a:bodyPr wrap="square" lIns="0" tIns="0" rIns="0" bIns="0" rtlCol="0" anchor="t"/>
          <a:lstStyle/>
          <a:p>
            <a:pPr marL="0" indent="0" algn="l">
              <a:lnSpc>
                <a:spcPts val="2750"/>
              </a:lnSpc>
              <a:buNone/>
            </a:pPr>
            <a:r>
              <a:rPr lang="en-US" sz="2200" b="1" dirty="0">
                <a:solidFill>
                  <a:srgbClr val="FFFFFF"/>
                </a:solidFill>
                <a:latin typeface="Inter Bold" pitchFamily="34" charset="0"/>
                <a:ea typeface="Inter Bold" pitchFamily="34" charset="-122"/>
                <a:cs typeface="Inter Bold" pitchFamily="34" charset="-120"/>
              </a:rPr>
              <a:t>Relación entre salario medio anual y proporción de personas no emancipadas por comunidad autónoma</a:t>
            </a:r>
            <a:endParaRPr lang="en-US" sz="2200" dirty="0"/>
          </a:p>
        </p:txBody>
      </p:sp>
      <p:sp>
        <p:nvSpPr>
          <p:cNvPr id="7" name="Text 5"/>
          <p:cNvSpPr/>
          <p:nvPr/>
        </p:nvSpPr>
        <p:spPr>
          <a:xfrm>
            <a:off x="857250" y="5495330"/>
            <a:ext cx="7477363" cy="362903"/>
          </a:xfrm>
          <a:prstGeom prst="rect">
            <a:avLst/>
          </a:prstGeom>
          <a:noFill/>
          <a:ln/>
        </p:spPr>
        <p:txBody>
          <a:bodyPr wrap="none" lIns="0" tIns="0" rIns="0" bIns="0" rtlCol="0" anchor="t"/>
          <a:lstStyle/>
          <a:p>
            <a:pPr marL="0" indent="0" algn="l">
              <a:lnSpc>
                <a:spcPts val="2850"/>
              </a:lnSpc>
              <a:buNone/>
            </a:pPr>
            <a:r>
              <a:rPr lang="en-US" sz="1750" dirty="0">
                <a:solidFill>
                  <a:srgbClr val="FFFFFF"/>
                </a:solidFill>
                <a:latin typeface="Inter" pitchFamily="34" charset="0"/>
                <a:ea typeface="Inter" pitchFamily="34" charset="-122"/>
                <a:cs typeface="Inter" pitchFamily="34" charset="-120"/>
              </a:rPr>
              <a:t>Análisis general y por sexo · 17 comunidades autónomas</a:t>
            </a:r>
            <a:endParaRPr lang="en-US" sz="1750" dirty="0"/>
          </a:p>
        </p:txBody>
      </p:sp>
      <p:sp>
        <p:nvSpPr>
          <p:cNvPr id="8" name="Shape 6"/>
          <p:cNvSpPr/>
          <p:nvPr/>
        </p:nvSpPr>
        <p:spPr>
          <a:xfrm>
            <a:off x="8959096" y="4588193"/>
            <a:ext cx="3036213" cy="441484"/>
          </a:xfrm>
          <a:prstGeom prst="roundRect">
            <a:avLst>
              <a:gd name="adj" fmla="val 17263"/>
            </a:avLst>
          </a:prstGeom>
          <a:noFill/>
          <a:ln w="7620">
            <a:solidFill>
              <a:srgbClr val="4950BC"/>
            </a:solidFill>
            <a:prstDash val="solid"/>
          </a:ln>
        </p:spPr>
        <p:txBody>
          <a:bodyPr/>
          <a:lstStyle/>
          <a:p>
            <a:endParaRPr lang="es-ES"/>
          </a:p>
        </p:txBody>
      </p:sp>
      <p:sp>
        <p:nvSpPr>
          <p:cNvPr id="9" name="Text 7"/>
          <p:cNvSpPr/>
          <p:nvPr/>
        </p:nvSpPr>
        <p:spPr>
          <a:xfrm>
            <a:off x="9102804" y="4663797"/>
            <a:ext cx="2748796" cy="290274"/>
          </a:xfrm>
          <a:prstGeom prst="rect">
            <a:avLst/>
          </a:prstGeom>
          <a:noFill/>
          <a:ln/>
        </p:spPr>
        <p:txBody>
          <a:bodyPr wrap="none" lIns="0" tIns="0" rIns="0" bIns="0" rtlCol="0" anchor="t"/>
          <a:lstStyle/>
          <a:p>
            <a:pPr marL="0" indent="0" algn="l">
              <a:lnSpc>
                <a:spcPts val="2250"/>
              </a:lnSpc>
              <a:buNone/>
            </a:pPr>
            <a:r>
              <a:rPr lang="en-US" sz="1400" dirty="0">
                <a:solidFill>
                  <a:srgbClr val="4950BC"/>
                </a:solidFill>
                <a:latin typeface="Inter" pitchFamily="34" charset="0"/>
                <a:ea typeface="Inter" pitchFamily="34" charset="-122"/>
                <a:cs typeface="Inter" pitchFamily="34" charset="-120"/>
              </a:rPr>
              <a:t>EDA · ANÁLISIS EXPLORATORIO</a:t>
            </a:r>
            <a:endParaRPr lang="en-US" sz="1400" dirty="0"/>
          </a:p>
        </p:txBody>
      </p:sp>
      <p:sp>
        <p:nvSpPr>
          <p:cNvPr id="10" name="Text 8"/>
          <p:cNvSpPr/>
          <p:nvPr/>
        </p:nvSpPr>
        <p:spPr>
          <a:xfrm>
            <a:off x="8959096" y="5284827"/>
            <a:ext cx="4885015"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España · 2018 · 2019 · 2020</a:t>
            </a:r>
          </a:p>
          <a:p>
            <a:pPr marL="0" indent="0" algn="l">
              <a:lnSpc>
                <a:spcPts val="2850"/>
              </a:lnSpc>
              <a:buNone/>
            </a:pPr>
            <a:r>
              <a:rPr lang="en-US" sz="1750" dirty="0" err="1">
                <a:solidFill>
                  <a:srgbClr val="272525"/>
                </a:solidFill>
                <a:latin typeface="Inter" pitchFamily="34" charset="0"/>
                <a:ea typeface="Inter" pitchFamily="34" charset="-122"/>
              </a:rPr>
              <a:t>Jóvenes</a:t>
            </a:r>
            <a:r>
              <a:rPr lang="en-US" sz="1750" dirty="0">
                <a:solidFill>
                  <a:srgbClr val="272525"/>
                </a:solidFill>
                <a:latin typeface="Inter" pitchFamily="34" charset="0"/>
                <a:ea typeface="Inter" pitchFamily="34" charset="-122"/>
              </a:rPr>
              <a:t> 25-34 </a:t>
            </a:r>
            <a:r>
              <a:rPr lang="en-US" sz="1750" dirty="0" err="1">
                <a:solidFill>
                  <a:srgbClr val="272525"/>
                </a:solidFill>
                <a:latin typeface="Inter" pitchFamily="34" charset="0"/>
                <a:ea typeface="Inter" pitchFamily="34" charset="-122"/>
              </a:rPr>
              <a:t>años</a:t>
            </a:r>
            <a:endParaRPr lang="en-US" sz="1750" dirty="0">
              <a:solidFill>
                <a:srgbClr val="272525"/>
              </a:solidFill>
              <a:latin typeface="Inter" pitchFamily="34" charset="0"/>
              <a:ea typeface="Inter"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728067"/>
            <a:ext cx="1600319" cy="397907"/>
          </a:xfrm>
          <a:prstGeom prst="roundRect">
            <a:avLst>
              <a:gd name="adj" fmla="val 18196"/>
            </a:avLst>
          </a:prstGeom>
          <a:solidFill>
            <a:srgbClr val="DADBF1"/>
          </a:solidFill>
          <a:ln/>
        </p:spPr>
        <p:txBody>
          <a:bodyPr/>
          <a:lstStyle/>
          <a:p>
            <a:endParaRPr lang="es-ES"/>
          </a:p>
        </p:txBody>
      </p:sp>
      <p:sp>
        <p:nvSpPr>
          <p:cNvPr id="3" name="Text 1"/>
          <p:cNvSpPr/>
          <p:nvPr/>
        </p:nvSpPr>
        <p:spPr>
          <a:xfrm>
            <a:off x="922972" y="792599"/>
            <a:ext cx="1341953" cy="268843"/>
          </a:xfrm>
          <a:prstGeom prst="rect">
            <a:avLst/>
          </a:prstGeom>
          <a:noFill/>
          <a:ln/>
        </p:spPr>
        <p:txBody>
          <a:bodyPr wrap="none" lIns="0" tIns="0" rIns="0" bIns="0" rtlCol="0" anchor="t"/>
          <a:lstStyle/>
          <a:p>
            <a:pPr marL="0" indent="0" algn="l">
              <a:lnSpc>
                <a:spcPts val="2100"/>
              </a:lnSpc>
              <a:buNone/>
            </a:pPr>
            <a:r>
              <a:rPr lang="en-US" sz="1350" dirty="0">
                <a:solidFill>
                  <a:srgbClr val="272525"/>
                </a:solidFill>
                <a:latin typeface="Inter" pitchFamily="34" charset="0"/>
                <a:ea typeface="Inter" pitchFamily="34" charset="-122"/>
                <a:cs typeface="Inter" pitchFamily="34" charset="-120"/>
              </a:rPr>
              <a:t>INTRODUCCIÓN</a:t>
            </a:r>
            <a:endParaRPr lang="en-US" sz="1350" dirty="0"/>
          </a:p>
        </p:txBody>
      </p:sp>
      <p:sp>
        <p:nvSpPr>
          <p:cNvPr id="4" name="Text 2"/>
          <p:cNvSpPr/>
          <p:nvPr/>
        </p:nvSpPr>
        <p:spPr>
          <a:xfrm>
            <a:off x="793790" y="1207770"/>
            <a:ext cx="5447467" cy="673418"/>
          </a:xfrm>
          <a:prstGeom prst="rect">
            <a:avLst/>
          </a:prstGeom>
          <a:noFill/>
          <a:ln/>
        </p:spPr>
        <p:txBody>
          <a:bodyPr wrap="none" lIns="0" tIns="0" rIns="0" bIns="0" rtlCol="0" anchor="t"/>
          <a:lstStyle/>
          <a:p>
            <a:pPr marL="0" indent="0" algn="l">
              <a:lnSpc>
                <a:spcPts val="5300"/>
              </a:lnSpc>
              <a:buNone/>
            </a:pPr>
            <a:r>
              <a:rPr lang="en-US" sz="4200" b="1" dirty="0">
                <a:solidFill>
                  <a:srgbClr val="000000"/>
                </a:solidFill>
                <a:latin typeface="Inter Bold" pitchFamily="34" charset="0"/>
                <a:ea typeface="Inter Bold" pitchFamily="34" charset="-122"/>
                <a:cs typeface="Inter Bold" pitchFamily="34" charset="-120"/>
              </a:rPr>
              <a:t>Contexto del Estudio</a:t>
            </a:r>
            <a:endParaRPr lang="en-US" sz="4200" dirty="0"/>
          </a:p>
        </p:txBody>
      </p:sp>
      <p:sp>
        <p:nvSpPr>
          <p:cNvPr id="5" name="Shape 3"/>
          <p:cNvSpPr/>
          <p:nvPr/>
        </p:nvSpPr>
        <p:spPr>
          <a:xfrm>
            <a:off x="793790" y="2418517"/>
            <a:ext cx="6258520" cy="1705213"/>
          </a:xfrm>
          <a:prstGeom prst="roundRect">
            <a:avLst>
              <a:gd name="adj" fmla="val 8580"/>
            </a:avLst>
          </a:prstGeom>
          <a:solidFill>
            <a:srgbClr val="FFFFFF"/>
          </a:solidFill>
          <a:ln w="30480">
            <a:solidFill>
              <a:srgbClr val="C0C1D7"/>
            </a:solidFill>
            <a:prstDash val="solid"/>
          </a:ln>
        </p:spPr>
        <p:txBody>
          <a:bodyPr/>
          <a:lstStyle/>
          <a:p>
            <a:endParaRPr lang="es-ES"/>
          </a:p>
        </p:txBody>
      </p:sp>
      <p:sp>
        <p:nvSpPr>
          <p:cNvPr id="6" name="Shape 4"/>
          <p:cNvSpPr/>
          <p:nvPr/>
        </p:nvSpPr>
        <p:spPr>
          <a:xfrm>
            <a:off x="763310" y="2418517"/>
            <a:ext cx="121920" cy="1705213"/>
          </a:xfrm>
          <a:prstGeom prst="roundRect">
            <a:avLst>
              <a:gd name="adj" fmla="val 74233"/>
            </a:avLst>
          </a:prstGeom>
          <a:solidFill>
            <a:srgbClr val="4950BC"/>
          </a:solidFill>
          <a:ln/>
        </p:spPr>
        <p:txBody>
          <a:bodyPr/>
          <a:lstStyle/>
          <a:p>
            <a:endParaRPr lang="es-ES"/>
          </a:p>
        </p:txBody>
      </p:sp>
      <p:sp>
        <p:nvSpPr>
          <p:cNvPr id="7" name="Text 5"/>
          <p:cNvSpPr/>
          <p:nvPr/>
        </p:nvSpPr>
        <p:spPr>
          <a:xfrm>
            <a:off x="1131094" y="2664381"/>
            <a:ext cx="2717125" cy="336590"/>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Fenómeno analizado</a:t>
            </a:r>
            <a:endParaRPr lang="en-US" sz="2100" dirty="0"/>
          </a:p>
        </p:txBody>
      </p:sp>
      <p:sp>
        <p:nvSpPr>
          <p:cNvPr id="8" name="Text 6"/>
          <p:cNvSpPr/>
          <p:nvPr/>
        </p:nvSpPr>
        <p:spPr>
          <a:xfrm>
            <a:off x="1131094" y="3205639"/>
            <a:ext cx="5675352" cy="672227"/>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Inter" pitchFamily="34" charset="0"/>
                <a:ea typeface="Inter" pitchFamily="34" charset="-122"/>
                <a:cs typeface="Inter" pitchFamily="34" charset="-120"/>
              </a:rPr>
              <a:t>Emancipación residencial en España: ¿quién sigue viviendo en el hogar familiar?</a:t>
            </a:r>
            <a:endParaRPr lang="en-US" sz="1650" dirty="0"/>
          </a:p>
        </p:txBody>
      </p:sp>
      <p:sp>
        <p:nvSpPr>
          <p:cNvPr id="9" name="Shape 7"/>
          <p:cNvSpPr/>
          <p:nvPr/>
        </p:nvSpPr>
        <p:spPr>
          <a:xfrm>
            <a:off x="793790" y="4328398"/>
            <a:ext cx="6258520" cy="1369100"/>
          </a:xfrm>
          <a:prstGeom prst="roundRect">
            <a:avLst>
              <a:gd name="adj" fmla="val 10686"/>
            </a:avLst>
          </a:prstGeom>
          <a:solidFill>
            <a:srgbClr val="FFFFFF"/>
          </a:solidFill>
          <a:ln w="30480">
            <a:solidFill>
              <a:srgbClr val="C0C1D7"/>
            </a:solidFill>
            <a:prstDash val="solid"/>
          </a:ln>
        </p:spPr>
        <p:txBody>
          <a:bodyPr/>
          <a:lstStyle/>
          <a:p>
            <a:endParaRPr lang="es-ES"/>
          </a:p>
        </p:txBody>
      </p:sp>
      <p:sp>
        <p:nvSpPr>
          <p:cNvPr id="10" name="Shape 8"/>
          <p:cNvSpPr/>
          <p:nvPr/>
        </p:nvSpPr>
        <p:spPr>
          <a:xfrm>
            <a:off x="763310" y="4328398"/>
            <a:ext cx="121920" cy="1369100"/>
          </a:xfrm>
          <a:prstGeom prst="roundRect">
            <a:avLst>
              <a:gd name="adj" fmla="val 74233"/>
            </a:avLst>
          </a:prstGeom>
          <a:solidFill>
            <a:srgbClr val="4950BC"/>
          </a:solidFill>
          <a:ln/>
        </p:spPr>
        <p:txBody>
          <a:bodyPr/>
          <a:lstStyle/>
          <a:p>
            <a:endParaRPr lang="es-ES"/>
          </a:p>
        </p:txBody>
      </p:sp>
      <p:sp>
        <p:nvSpPr>
          <p:cNvPr id="11" name="Text 9"/>
          <p:cNvSpPr/>
          <p:nvPr/>
        </p:nvSpPr>
        <p:spPr>
          <a:xfrm>
            <a:off x="1131094" y="4574262"/>
            <a:ext cx="2693551" cy="336590"/>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Variable explicativa</a:t>
            </a:r>
            <a:endParaRPr lang="en-US" sz="2100" dirty="0"/>
          </a:p>
        </p:txBody>
      </p:sp>
      <p:sp>
        <p:nvSpPr>
          <p:cNvPr id="12" name="Text 10"/>
          <p:cNvSpPr/>
          <p:nvPr/>
        </p:nvSpPr>
        <p:spPr>
          <a:xfrm>
            <a:off x="1131094" y="5115520"/>
            <a:ext cx="5675352" cy="336113"/>
          </a:xfrm>
          <a:prstGeom prst="rect">
            <a:avLst/>
          </a:prstGeom>
          <a:noFill/>
          <a:ln/>
        </p:spPr>
        <p:txBody>
          <a:bodyPr wrap="none" lIns="0" tIns="0" rIns="0" bIns="0" rtlCol="0" anchor="t"/>
          <a:lstStyle/>
          <a:p>
            <a:pPr marL="0" indent="0" algn="l">
              <a:lnSpc>
                <a:spcPts val="2600"/>
              </a:lnSpc>
              <a:buNone/>
            </a:pPr>
            <a:r>
              <a:rPr lang="en-US" sz="1650" dirty="0">
                <a:solidFill>
                  <a:srgbClr val="272525"/>
                </a:solidFill>
                <a:latin typeface="Inter" pitchFamily="34" charset="0"/>
                <a:ea typeface="Inter" pitchFamily="34" charset="-122"/>
                <a:cs typeface="Inter" pitchFamily="34" charset="-120"/>
              </a:rPr>
              <a:t>Salario medio anual por comunidad autónoma y sexo</a:t>
            </a:r>
            <a:endParaRPr lang="en-US" sz="1650" dirty="0"/>
          </a:p>
        </p:txBody>
      </p:sp>
      <p:sp>
        <p:nvSpPr>
          <p:cNvPr id="13" name="Shape 11"/>
          <p:cNvSpPr/>
          <p:nvPr/>
        </p:nvSpPr>
        <p:spPr>
          <a:xfrm>
            <a:off x="793790" y="5902166"/>
            <a:ext cx="6258520" cy="1369100"/>
          </a:xfrm>
          <a:prstGeom prst="roundRect">
            <a:avLst>
              <a:gd name="adj" fmla="val 10686"/>
            </a:avLst>
          </a:prstGeom>
          <a:solidFill>
            <a:srgbClr val="FFFFFF"/>
          </a:solidFill>
          <a:ln w="30480">
            <a:solidFill>
              <a:srgbClr val="C0C1D7"/>
            </a:solidFill>
            <a:prstDash val="solid"/>
          </a:ln>
        </p:spPr>
        <p:txBody>
          <a:bodyPr/>
          <a:lstStyle/>
          <a:p>
            <a:endParaRPr lang="es-ES"/>
          </a:p>
        </p:txBody>
      </p:sp>
      <p:sp>
        <p:nvSpPr>
          <p:cNvPr id="14" name="Shape 12"/>
          <p:cNvSpPr/>
          <p:nvPr/>
        </p:nvSpPr>
        <p:spPr>
          <a:xfrm>
            <a:off x="763310" y="5902166"/>
            <a:ext cx="121920" cy="1369100"/>
          </a:xfrm>
          <a:prstGeom prst="roundRect">
            <a:avLst>
              <a:gd name="adj" fmla="val 74233"/>
            </a:avLst>
          </a:prstGeom>
          <a:solidFill>
            <a:srgbClr val="4950BC"/>
          </a:solidFill>
          <a:ln/>
        </p:spPr>
        <p:txBody>
          <a:bodyPr/>
          <a:lstStyle/>
          <a:p>
            <a:endParaRPr lang="es-ES"/>
          </a:p>
        </p:txBody>
      </p:sp>
      <p:sp>
        <p:nvSpPr>
          <p:cNvPr id="15" name="Text 13"/>
          <p:cNvSpPr/>
          <p:nvPr/>
        </p:nvSpPr>
        <p:spPr>
          <a:xfrm>
            <a:off x="1131094" y="6148030"/>
            <a:ext cx="2693551" cy="336590"/>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Período</a:t>
            </a:r>
            <a:endParaRPr lang="en-US" sz="2100" dirty="0"/>
          </a:p>
        </p:txBody>
      </p:sp>
      <p:sp>
        <p:nvSpPr>
          <p:cNvPr id="16" name="Text 14"/>
          <p:cNvSpPr/>
          <p:nvPr/>
        </p:nvSpPr>
        <p:spPr>
          <a:xfrm>
            <a:off x="1131094" y="6689288"/>
            <a:ext cx="5675352" cy="336113"/>
          </a:xfrm>
          <a:prstGeom prst="rect">
            <a:avLst/>
          </a:prstGeom>
          <a:noFill/>
          <a:ln/>
        </p:spPr>
        <p:txBody>
          <a:bodyPr wrap="none" lIns="0" tIns="0" rIns="0" bIns="0" rtlCol="0" anchor="t"/>
          <a:lstStyle/>
          <a:p>
            <a:pPr marL="0" indent="0" algn="l">
              <a:lnSpc>
                <a:spcPts val="2600"/>
              </a:lnSpc>
              <a:buNone/>
            </a:pPr>
            <a:r>
              <a:rPr lang="en-US" sz="1650" dirty="0">
                <a:solidFill>
                  <a:srgbClr val="272525"/>
                </a:solidFill>
                <a:latin typeface="Inter" pitchFamily="34" charset="0"/>
                <a:ea typeface="Inter" pitchFamily="34" charset="-122"/>
                <a:cs typeface="Inter" pitchFamily="34" charset="-120"/>
              </a:rPr>
              <a:t>2018, 2019 y 2020 · 17 comunidades autónomas</a:t>
            </a:r>
            <a:endParaRPr lang="en-US" sz="1650" dirty="0"/>
          </a:p>
        </p:txBody>
      </p:sp>
      <p:sp>
        <p:nvSpPr>
          <p:cNvPr id="17" name="Shape 15"/>
          <p:cNvSpPr/>
          <p:nvPr/>
        </p:nvSpPr>
        <p:spPr>
          <a:xfrm>
            <a:off x="7585710" y="2418517"/>
            <a:ext cx="3026926" cy="1996083"/>
          </a:xfrm>
          <a:prstGeom prst="roundRect">
            <a:avLst>
              <a:gd name="adj" fmla="val 4534"/>
            </a:avLst>
          </a:prstGeom>
          <a:solidFill>
            <a:srgbClr val="DADBF1"/>
          </a:solidFill>
          <a:ln w="7620">
            <a:solidFill>
              <a:srgbClr val="C0C1D7"/>
            </a:solidFill>
            <a:prstDash val="solid"/>
          </a:ln>
        </p:spPr>
        <p:txBody>
          <a:bodyPr/>
          <a:lstStyle/>
          <a:p>
            <a:endParaRPr lang="es-ES"/>
          </a:p>
        </p:txBody>
      </p:sp>
      <p:sp>
        <p:nvSpPr>
          <p:cNvPr id="18" name="Text 16"/>
          <p:cNvSpPr/>
          <p:nvPr/>
        </p:nvSpPr>
        <p:spPr>
          <a:xfrm>
            <a:off x="7808714" y="2641521"/>
            <a:ext cx="2580918" cy="336590"/>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Pregunta central</a:t>
            </a:r>
            <a:endParaRPr lang="en-US" sz="2100" dirty="0"/>
          </a:p>
        </p:txBody>
      </p:sp>
      <p:sp>
        <p:nvSpPr>
          <p:cNvPr id="19" name="Text 17"/>
          <p:cNvSpPr/>
          <p:nvPr/>
        </p:nvSpPr>
        <p:spPr>
          <a:xfrm>
            <a:off x="7808714" y="3182779"/>
            <a:ext cx="2580918" cy="672227"/>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Inter" pitchFamily="34" charset="0"/>
                <a:ea typeface="Inter" pitchFamily="34" charset="-122"/>
                <a:cs typeface="Inter" pitchFamily="34" charset="-120"/>
              </a:rPr>
              <a:t>¿A mayor salario, mayor emancipación?</a:t>
            </a:r>
            <a:endParaRPr lang="en-US" sz="1650" dirty="0"/>
          </a:p>
        </p:txBody>
      </p:sp>
      <p:sp>
        <p:nvSpPr>
          <p:cNvPr id="20" name="Shape 18"/>
          <p:cNvSpPr/>
          <p:nvPr/>
        </p:nvSpPr>
        <p:spPr>
          <a:xfrm>
            <a:off x="10817304" y="2418517"/>
            <a:ext cx="3026926" cy="1996083"/>
          </a:xfrm>
          <a:prstGeom prst="roundRect">
            <a:avLst>
              <a:gd name="adj" fmla="val 4534"/>
            </a:avLst>
          </a:prstGeom>
          <a:solidFill>
            <a:srgbClr val="DADBF1"/>
          </a:solidFill>
          <a:ln w="7620">
            <a:solidFill>
              <a:srgbClr val="C0C1D7"/>
            </a:solidFill>
            <a:prstDash val="solid"/>
          </a:ln>
        </p:spPr>
        <p:txBody>
          <a:bodyPr/>
          <a:lstStyle/>
          <a:p>
            <a:endParaRPr lang="es-ES"/>
          </a:p>
        </p:txBody>
      </p:sp>
      <p:sp>
        <p:nvSpPr>
          <p:cNvPr id="21" name="Text 19"/>
          <p:cNvSpPr/>
          <p:nvPr/>
        </p:nvSpPr>
        <p:spPr>
          <a:xfrm>
            <a:off x="11040308" y="2641521"/>
            <a:ext cx="2580918" cy="673179"/>
          </a:xfrm>
          <a:prstGeom prst="rect">
            <a:avLst/>
          </a:prstGeom>
          <a:noFill/>
          <a:ln/>
        </p:spPr>
        <p:txBody>
          <a:bodyPr wrap="squar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Dimensión de género</a:t>
            </a:r>
            <a:endParaRPr lang="en-US" sz="2100" dirty="0"/>
          </a:p>
        </p:txBody>
      </p:sp>
      <p:sp>
        <p:nvSpPr>
          <p:cNvPr id="22" name="Text 20"/>
          <p:cNvSpPr/>
          <p:nvPr/>
        </p:nvSpPr>
        <p:spPr>
          <a:xfrm>
            <a:off x="11040308" y="3519368"/>
            <a:ext cx="2580918" cy="672227"/>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Inter" pitchFamily="34" charset="0"/>
                <a:ea typeface="Inter" pitchFamily="34" charset="-122"/>
                <a:cs typeface="Inter" pitchFamily="34" charset="-120"/>
              </a:rPr>
              <a:t>¿Difiere la relación entre hombres y mujeres?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1223010"/>
            <a:ext cx="1281827" cy="426244"/>
          </a:xfrm>
          <a:prstGeom prst="roundRect">
            <a:avLst>
              <a:gd name="adj" fmla="val 17880"/>
            </a:avLst>
          </a:prstGeom>
          <a:solidFill>
            <a:srgbClr val="DADBF1"/>
          </a:solidFill>
          <a:ln/>
        </p:spPr>
        <p:txBody>
          <a:bodyPr/>
          <a:lstStyle/>
          <a:p>
            <a:endParaRPr lang="es-ES"/>
          </a:p>
        </p:txBody>
      </p:sp>
      <p:sp>
        <p:nvSpPr>
          <p:cNvPr id="3" name="Text 1"/>
          <p:cNvSpPr/>
          <p:nvPr/>
        </p:nvSpPr>
        <p:spPr>
          <a:xfrm>
            <a:off x="929878" y="1290995"/>
            <a:ext cx="1009650"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OBJETIVOS</a:t>
            </a:r>
            <a:endParaRPr lang="en-US" sz="1400" dirty="0"/>
          </a:p>
        </p:txBody>
      </p:sp>
      <p:sp>
        <p:nvSpPr>
          <p:cNvPr id="4" name="Text 2"/>
          <p:cNvSpPr/>
          <p:nvPr/>
        </p:nvSpPr>
        <p:spPr>
          <a:xfrm>
            <a:off x="793790" y="1739979"/>
            <a:ext cx="5809655"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Hipótesis del Estudio</a:t>
            </a:r>
            <a:endParaRPr lang="en-US" sz="4450" dirty="0"/>
          </a:p>
        </p:txBody>
      </p:sp>
      <p:sp>
        <p:nvSpPr>
          <p:cNvPr id="5" name="Shape 3"/>
          <p:cNvSpPr/>
          <p:nvPr/>
        </p:nvSpPr>
        <p:spPr>
          <a:xfrm>
            <a:off x="793790" y="2845594"/>
            <a:ext cx="13042821" cy="16907"/>
          </a:xfrm>
          <a:prstGeom prst="rect">
            <a:avLst/>
          </a:prstGeom>
          <a:solidFill>
            <a:srgbClr val="272525">
              <a:alpha val="50000"/>
            </a:srgbClr>
          </a:solidFill>
          <a:ln/>
        </p:spPr>
        <p:txBody>
          <a:bodyPr/>
          <a:lstStyle/>
          <a:p>
            <a:endParaRPr lang="es-ES"/>
          </a:p>
        </p:txBody>
      </p:sp>
      <p:sp>
        <p:nvSpPr>
          <p:cNvPr id="6" name="Shape 4"/>
          <p:cNvSpPr/>
          <p:nvPr/>
        </p:nvSpPr>
        <p:spPr>
          <a:xfrm>
            <a:off x="793790" y="3514487"/>
            <a:ext cx="3090505" cy="3492103"/>
          </a:xfrm>
          <a:prstGeom prst="roundRect">
            <a:avLst>
              <a:gd name="adj" fmla="val 4734"/>
            </a:avLst>
          </a:prstGeom>
          <a:solidFill>
            <a:srgbClr val="FFFFFF"/>
          </a:solidFill>
          <a:ln/>
        </p:spPr>
        <p:txBody>
          <a:bodyPr/>
          <a:lstStyle/>
          <a:p>
            <a:endParaRPr lang="es-ES"/>
          </a:p>
        </p:txBody>
      </p:sp>
      <p:sp>
        <p:nvSpPr>
          <p:cNvPr id="7" name="Shape 5"/>
          <p:cNvSpPr/>
          <p:nvPr/>
        </p:nvSpPr>
        <p:spPr>
          <a:xfrm>
            <a:off x="793790" y="3484007"/>
            <a:ext cx="3090505" cy="121920"/>
          </a:xfrm>
          <a:prstGeom prst="roundRect">
            <a:avLst>
              <a:gd name="adj" fmla="val 78139"/>
            </a:avLst>
          </a:prstGeom>
          <a:solidFill>
            <a:srgbClr val="4950BC"/>
          </a:solidFill>
          <a:ln/>
        </p:spPr>
        <p:txBody>
          <a:bodyPr/>
          <a:lstStyle/>
          <a:p>
            <a:endParaRPr lang="es-ES"/>
          </a:p>
        </p:txBody>
      </p:sp>
      <p:sp>
        <p:nvSpPr>
          <p:cNvPr id="8" name="Shape 6"/>
          <p:cNvSpPr/>
          <p:nvPr/>
        </p:nvSpPr>
        <p:spPr>
          <a:xfrm>
            <a:off x="1998762" y="3174325"/>
            <a:ext cx="680442" cy="680442"/>
          </a:xfrm>
          <a:prstGeom prst="roundRect">
            <a:avLst>
              <a:gd name="adj" fmla="val 134383"/>
            </a:avLst>
          </a:prstGeom>
          <a:solidFill>
            <a:srgbClr val="4950BC"/>
          </a:solidFill>
          <a:ln/>
        </p:spPr>
        <p:txBody>
          <a:bodyPr/>
          <a:lstStyle/>
          <a:p>
            <a:endParaRPr lang="es-ES"/>
          </a:p>
        </p:txBody>
      </p:sp>
      <p:sp>
        <p:nvSpPr>
          <p:cNvPr id="9" name="Text 7"/>
          <p:cNvSpPr/>
          <p:nvPr/>
        </p:nvSpPr>
        <p:spPr>
          <a:xfrm>
            <a:off x="2202835" y="3344466"/>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FFFFFF"/>
                </a:solidFill>
                <a:latin typeface="Inter Bold" pitchFamily="34" charset="0"/>
                <a:ea typeface="Inter Bold" pitchFamily="34" charset="-122"/>
                <a:cs typeface="Inter Bold" pitchFamily="34" charset="-120"/>
              </a:rPr>
              <a:t>1</a:t>
            </a:r>
            <a:endParaRPr lang="en-US" sz="2100" dirty="0"/>
          </a:p>
        </p:txBody>
      </p:sp>
      <p:sp>
        <p:nvSpPr>
          <p:cNvPr id="10" name="Text 8"/>
          <p:cNvSpPr/>
          <p:nvPr/>
        </p:nvSpPr>
        <p:spPr>
          <a:xfrm>
            <a:off x="1051084" y="4081463"/>
            <a:ext cx="2575917"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Hipótesis 1</a:t>
            </a:r>
            <a:endParaRPr lang="en-US" sz="2200" dirty="0"/>
          </a:p>
        </p:txBody>
      </p:sp>
      <p:sp>
        <p:nvSpPr>
          <p:cNvPr id="11" name="Text 9"/>
          <p:cNvSpPr/>
          <p:nvPr/>
        </p:nvSpPr>
        <p:spPr>
          <a:xfrm>
            <a:off x="1051084" y="4571881"/>
            <a:ext cx="2575917" cy="217741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Existen diferencias significativas entre comunidades autónomas en los niveles de emancipación juvenil.</a:t>
            </a:r>
            <a:endParaRPr lang="en-US" sz="1750" dirty="0"/>
          </a:p>
        </p:txBody>
      </p:sp>
      <p:sp>
        <p:nvSpPr>
          <p:cNvPr id="12" name="Shape 10"/>
          <p:cNvSpPr/>
          <p:nvPr/>
        </p:nvSpPr>
        <p:spPr>
          <a:xfrm>
            <a:off x="4111109" y="3514487"/>
            <a:ext cx="3090624" cy="3492103"/>
          </a:xfrm>
          <a:prstGeom prst="roundRect">
            <a:avLst>
              <a:gd name="adj" fmla="val 4734"/>
            </a:avLst>
          </a:prstGeom>
          <a:solidFill>
            <a:srgbClr val="FFFFFF"/>
          </a:solidFill>
          <a:ln/>
        </p:spPr>
        <p:txBody>
          <a:bodyPr/>
          <a:lstStyle/>
          <a:p>
            <a:endParaRPr lang="es-ES"/>
          </a:p>
        </p:txBody>
      </p:sp>
      <p:sp>
        <p:nvSpPr>
          <p:cNvPr id="13" name="Shape 11"/>
          <p:cNvSpPr/>
          <p:nvPr/>
        </p:nvSpPr>
        <p:spPr>
          <a:xfrm>
            <a:off x="4111109" y="3484007"/>
            <a:ext cx="3090624" cy="121920"/>
          </a:xfrm>
          <a:prstGeom prst="roundRect">
            <a:avLst>
              <a:gd name="adj" fmla="val 78139"/>
            </a:avLst>
          </a:prstGeom>
          <a:solidFill>
            <a:srgbClr val="4950BC"/>
          </a:solidFill>
          <a:ln/>
        </p:spPr>
        <p:txBody>
          <a:bodyPr/>
          <a:lstStyle/>
          <a:p>
            <a:endParaRPr lang="es-ES"/>
          </a:p>
        </p:txBody>
      </p:sp>
      <p:sp>
        <p:nvSpPr>
          <p:cNvPr id="14" name="Shape 12"/>
          <p:cNvSpPr/>
          <p:nvPr/>
        </p:nvSpPr>
        <p:spPr>
          <a:xfrm>
            <a:off x="5316200" y="3174325"/>
            <a:ext cx="680442" cy="680442"/>
          </a:xfrm>
          <a:prstGeom prst="roundRect">
            <a:avLst>
              <a:gd name="adj" fmla="val 134383"/>
            </a:avLst>
          </a:prstGeom>
          <a:solidFill>
            <a:srgbClr val="4950BC"/>
          </a:solidFill>
          <a:ln/>
        </p:spPr>
        <p:txBody>
          <a:bodyPr/>
          <a:lstStyle/>
          <a:p>
            <a:endParaRPr lang="es-ES"/>
          </a:p>
        </p:txBody>
      </p:sp>
      <p:sp>
        <p:nvSpPr>
          <p:cNvPr id="15" name="Text 13"/>
          <p:cNvSpPr/>
          <p:nvPr/>
        </p:nvSpPr>
        <p:spPr>
          <a:xfrm>
            <a:off x="5520273" y="3344466"/>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FFFFFF"/>
                </a:solidFill>
                <a:latin typeface="Inter Bold" pitchFamily="34" charset="0"/>
                <a:ea typeface="Inter Bold" pitchFamily="34" charset="-122"/>
                <a:cs typeface="Inter Bold" pitchFamily="34" charset="-120"/>
              </a:rPr>
              <a:t>2</a:t>
            </a:r>
            <a:endParaRPr lang="en-US" sz="2100" dirty="0"/>
          </a:p>
        </p:txBody>
      </p:sp>
      <p:sp>
        <p:nvSpPr>
          <p:cNvPr id="16" name="Text 14"/>
          <p:cNvSpPr/>
          <p:nvPr/>
        </p:nvSpPr>
        <p:spPr>
          <a:xfrm>
            <a:off x="4368403" y="4081463"/>
            <a:ext cx="2576036"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Hipótesis 2</a:t>
            </a:r>
            <a:endParaRPr lang="en-US" sz="2200" dirty="0"/>
          </a:p>
        </p:txBody>
      </p:sp>
      <p:sp>
        <p:nvSpPr>
          <p:cNvPr id="17" name="Text 15"/>
          <p:cNvSpPr/>
          <p:nvPr/>
        </p:nvSpPr>
        <p:spPr>
          <a:xfrm>
            <a:off x="4368403" y="4571881"/>
            <a:ext cx="2576036"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La relación entre salario y emancipación se mantiene estable en el periodo 2018–2020.</a:t>
            </a:r>
            <a:endParaRPr lang="en-US" sz="1750" dirty="0"/>
          </a:p>
        </p:txBody>
      </p:sp>
      <p:sp>
        <p:nvSpPr>
          <p:cNvPr id="18" name="Shape 16"/>
          <p:cNvSpPr/>
          <p:nvPr/>
        </p:nvSpPr>
        <p:spPr>
          <a:xfrm>
            <a:off x="7428548" y="3514487"/>
            <a:ext cx="3090624" cy="3492103"/>
          </a:xfrm>
          <a:prstGeom prst="roundRect">
            <a:avLst>
              <a:gd name="adj" fmla="val 4734"/>
            </a:avLst>
          </a:prstGeom>
          <a:solidFill>
            <a:srgbClr val="FFFFFF"/>
          </a:solidFill>
          <a:ln/>
        </p:spPr>
        <p:txBody>
          <a:bodyPr/>
          <a:lstStyle/>
          <a:p>
            <a:endParaRPr lang="es-ES"/>
          </a:p>
        </p:txBody>
      </p:sp>
      <p:sp>
        <p:nvSpPr>
          <p:cNvPr id="19" name="Shape 17"/>
          <p:cNvSpPr/>
          <p:nvPr/>
        </p:nvSpPr>
        <p:spPr>
          <a:xfrm>
            <a:off x="7428548" y="3484007"/>
            <a:ext cx="3090624" cy="121920"/>
          </a:xfrm>
          <a:prstGeom prst="roundRect">
            <a:avLst>
              <a:gd name="adj" fmla="val 78139"/>
            </a:avLst>
          </a:prstGeom>
          <a:solidFill>
            <a:srgbClr val="4950BC"/>
          </a:solidFill>
          <a:ln/>
        </p:spPr>
        <p:txBody>
          <a:bodyPr/>
          <a:lstStyle/>
          <a:p>
            <a:endParaRPr lang="es-ES"/>
          </a:p>
        </p:txBody>
      </p:sp>
      <p:sp>
        <p:nvSpPr>
          <p:cNvPr id="20" name="Shape 18"/>
          <p:cNvSpPr/>
          <p:nvPr/>
        </p:nvSpPr>
        <p:spPr>
          <a:xfrm>
            <a:off x="8633639" y="3174325"/>
            <a:ext cx="680442" cy="680442"/>
          </a:xfrm>
          <a:prstGeom prst="roundRect">
            <a:avLst>
              <a:gd name="adj" fmla="val 134383"/>
            </a:avLst>
          </a:prstGeom>
          <a:solidFill>
            <a:srgbClr val="4950BC"/>
          </a:solidFill>
          <a:ln/>
        </p:spPr>
        <p:txBody>
          <a:bodyPr/>
          <a:lstStyle/>
          <a:p>
            <a:endParaRPr lang="es-ES"/>
          </a:p>
        </p:txBody>
      </p:sp>
      <p:sp>
        <p:nvSpPr>
          <p:cNvPr id="21" name="Text 19"/>
          <p:cNvSpPr/>
          <p:nvPr/>
        </p:nvSpPr>
        <p:spPr>
          <a:xfrm>
            <a:off x="8837712" y="3344466"/>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FFFFFF"/>
                </a:solidFill>
                <a:latin typeface="Inter Bold" pitchFamily="34" charset="0"/>
                <a:ea typeface="Inter Bold" pitchFamily="34" charset="-122"/>
                <a:cs typeface="Inter Bold" pitchFamily="34" charset="-120"/>
              </a:rPr>
              <a:t>3</a:t>
            </a:r>
            <a:endParaRPr lang="en-US" sz="2100" dirty="0"/>
          </a:p>
        </p:txBody>
      </p:sp>
      <p:sp>
        <p:nvSpPr>
          <p:cNvPr id="22" name="Text 20"/>
          <p:cNvSpPr/>
          <p:nvPr/>
        </p:nvSpPr>
        <p:spPr>
          <a:xfrm>
            <a:off x="7685842" y="4081463"/>
            <a:ext cx="2576036"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Hipótesis 3</a:t>
            </a:r>
            <a:endParaRPr lang="en-US" sz="2200" dirty="0"/>
          </a:p>
        </p:txBody>
      </p:sp>
      <p:sp>
        <p:nvSpPr>
          <p:cNvPr id="23" name="Text 21"/>
          <p:cNvSpPr/>
          <p:nvPr/>
        </p:nvSpPr>
        <p:spPr>
          <a:xfrm>
            <a:off x="7685842" y="4571881"/>
            <a:ext cx="2576036" cy="217741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El salario no explica completamente la emancipación juvenil, lo que sugiere la intervención de otros factores.</a:t>
            </a:r>
            <a:endParaRPr lang="en-US" sz="1750" dirty="0"/>
          </a:p>
        </p:txBody>
      </p:sp>
      <p:sp>
        <p:nvSpPr>
          <p:cNvPr id="24" name="Shape 22"/>
          <p:cNvSpPr/>
          <p:nvPr/>
        </p:nvSpPr>
        <p:spPr>
          <a:xfrm>
            <a:off x="10745986" y="3514487"/>
            <a:ext cx="3090624" cy="3492103"/>
          </a:xfrm>
          <a:prstGeom prst="roundRect">
            <a:avLst>
              <a:gd name="adj" fmla="val 4734"/>
            </a:avLst>
          </a:prstGeom>
          <a:solidFill>
            <a:srgbClr val="FFFFFF"/>
          </a:solidFill>
          <a:ln/>
        </p:spPr>
        <p:txBody>
          <a:bodyPr/>
          <a:lstStyle/>
          <a:p>
            <a:endParaRPr lang="es-ES"/>
          </a:p>
        </p:txBody>
      </p:sp>
      <p:sp>
        <p:nvSpPr>
          <p:cNvPr id="25" name="Shape 23"/>
          <p:cNvSpPr/>
          <p:nvPr/>
        </p:nvSpPr>
        <p:spPr>
          <a:xfrm>
            <a:off x="10745986" y="3484007"/>
            <a:ext cx="3090624" cy="121920"/>
          </a:xfrm>
          <a:prstGeom prst="roundRect">
            <a:avLst>
              <a:gd name="adj" fmla="val 78139"/>
            </a:avLst>
          </a:prstGeom>
          <a:solidFill>
            <a:srgbClr val="4950BC"/>
          </a:solidFill>
          <a:ln/>
        </p:spPr>
        <p:txBody>
          <a:bodyPr/>
          <a:lstStyle/>
          <a:p>
            <a:endParaRPr lang="es-ES"/>
          </a:p>
        </p:txBody>
      </p:sp>
      <p:sp>
        <p:nvSpPr>
          <p:cNvPr id="26" name="Shape 24"/>
          <p:cNvSpPr/>
          <p:nvPr/>
        </p:nvSpPr>
        <p:spPr>
          <a:xfrm>
            <a:off x="11951077" y="3174325"/>
            <a:ext cx="680442" cy="680442"/>
          </a:xfrm>
          <a:prstGeom prst="roundRect">
            <a:avLst>
              <a:gd name="adj" fmla="val 134383"/>
            </a:avLst>
          </a:prstGeom>
          <a:solidFill>
            <a:srgbClr val="4950BC"/>
          </a:solidFill>
          <a:ln/>
        </p:spPr>
        <p:txBody>
          <a:bodyPr/>
          <a:lstStyle/>
          <a:p>
            <a:endParaRPr lang="es-ES"/>
          </a:p>
        </p:txBody>
      </p:sp>
      <p:sp>
        <p:nvSpPr>
          <p:cNvPr id="27" name="Text 25"/>
          <p:cNvSpPr/>
          <p:nvPr/>
        </p:nvSpPr>
        <p:spPr>
          <a:xfrm>
            <a:off x="12155150" y="3344466"/>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FFFFFF"/>
                </a:solidFill>
                <a:latin typeface="Inter Bold" pitchFamily="34" charset="0"/>
                <a:ea typeface="Inter Bold" pitchFamily="34" charset="-122"/>
                <a:cs typeface="Inter Bold" pitchFamily="34" charset="-120"/>
              </a:rPr>
              <a:t>4</a:t>
            </a:r>
            <a:endParaRPr lang="en-US" sz="2100" dirty="0"/>
          </a:p>
        </p:txBody>
      </p:sp>
      <p:sp>
        <p:nvSpPr>
          <p:cNvPr id="28" name="Text 26"/>
          <p:cNvSpPr/>
          <p:nvPr/>
        </p:nvSpPr>
        <p:spPr>
          <a:xfrm>
            <a:off x="11003280" y="4081463"/>
            <a:ext cx="2576036"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Hipótesis 4</a:t>
            </a:r>
            <a:endParaRPr lang="en-US" sz="2200" dirty="0"/>
          </a:p>
        </p:txBody>
      </p:sp>
      <p:sp>
        <p:nvSpPr>
          <p:cNvPr id="29" name="Text 27"/>
          <p:cNvSpPr/>
          <p:nvPr/>
        </p:nvSpPr>
        <p:spPr>
          <a:xfrm>
            <a:off x="11003280" y="4571881"/>
            <a:ext cx="2576036"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El efecto del salario sobre la emancipación no difiere significativamente entre hombres y mujeres.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93790" y="1139190"/>
            <a:ext cx="1529477" cy="397907"/>
          </a:xfrm>
          <a:prstGeom prst="roundRect">
            <a:avLst>
              <a:gd name="adj" fmla="val 18196"/>
            </a:avLst>
          </a:prstGeom>
          <a:solidFill>
            <a:srgbClr val="DADBF1"/>
          </a:solidFill>
          <a:ln/>
        </p:spPr>
        <p:txBody>
          <a:bodyPr/>
          <a:lstStyle/>
          <a:p>
            <a:endParaRPr lang="es-ES"/>
          </a:p>
        </p:txBody>
      </p:sp>
      <p:sp>
        <p:nvSpPr>
          <p:cNvPr id="3" name="Text 1"/>
          <p:cNvSpPr/>
          <p:nvPr/>
        </p:nvSpPr>
        <p:spPr>
          <a:xfrm>
            <a:off x="922972" y="1203722"/>
            <a:ext cx="1271111" cy="268843"/>
          </a:xfrm>
          <a:prstGeom prst="rect">
            <a:avLst/>
          </a:prstGeom>
          <a:noFill/>
          <a:ln/>
        </p:spPr>
        <p:txBody>
          <a:bodyPr wrap="none" lIns="0" tIns="0" rIns="0" bIns="0" rtlCol="0" anchor="t"/>
          <a:lstStyle/>
          <a:p>
            <a:pPr marL="0" indent="0" algn="l">
              <a:lnSpc>
                <a:spcPts val="2100"/>
              </a:lnSpc>
              <a:buNone/>
            </a:pPr>
            <a:r>
              <a:rPr lang="en-US" sz="1350" dirty="0">
                <a:solidFill>
                  <a:srgbClr val="272525"/>
                </a:solidFill>
                <a:latin typeface="Inter" pitchFamily="34" charset="0"/>
                <a:ea typeface="Inter" pitchFamily="34" charset="-122"/>
                <a:cs typeface="Inter" pitchFamily="34" charset="-120"/>
              </a:rPr>
              <a:t>METODOLOGÍA</a:t>
            </a:r>
            <a:endParaRPr lang="en-US" sz="1350" dirty="0"/>
          </a:p>
        </p:txBody>
      </p:sp>
      <p:sp>
        <p:nvSpPr>
          <p:cNvPr id="4" name="Text 2"/>
          <p:cNvSpPr/>
          <p:nvPr/>
        </p:nvSpPr>
        <p:spPr>
          <a:xfrm>
            <a:off x="793790" y="1618893"/>
            <a:ext cx="5387102" cy="673418"/>
          </a:xfrm>
          <a:prstGeom prst="rect">
            <a:avLst/>
          </a:prstGeom>
          <a:noFill/>
          <a:ln/>
        </p:spPr>
        <p:txBody>
          <a:bodyPr wrap="none" lIns="0" tIns="0" rIns="0" bIns="0" rtlCol="0" anchor="t"/>
          <a:lstStyle/>
          <a:p>
            <a:pPr marL="0" indent="0" algn="l">
              <a:lnSpc>
                <a:spcPts val="5300"/>
              </a:lnSpc>
              <a:buNone/>
            </a:pPr>
            <a:r>
              <a:rPr lang="en-US" sz="4200" b="1" dirty="0">
                <a:solidFill>
                  <a:srgbClr val="000000"/>
                </a:solidFill>
                <a:latin typeface="Inter Bold" pitchFamily="34" charset="0"/>
                <a:ea typeface="Inter Bold" pitchFamily="34" charset="-122"/>
                <a:cs typeface="Inter Bold" pitchFamily="34" charset="-120"/>
              </a:rPr>
              <a:t>Diseño del Análisis</a:t>
            </a:r>
            <a:endParaRPr lang="en-US" sz="4200" dirty="0"/>
          </a:p>
        </p:txBody>
      </p:sp>
      <p:pic>
        <p:nvPicPr>
          <p:cNvPr id="5" name="Image 0" descr="preencoded.png"/>
          <p:cNvPicPr>
            <a:picLocks noChangeAspect="1"/>
          </p:cNvPicPr>
          <p:nvPr/>
        </p:nvPicPr>
        <p:blipFill>
          <a:blip r:embed="rId3"/>
          <a:stretch>
            <a:fillRect/>
          </a:stretch>
        </p:blipFill>
        <p:spPr>
          <a:xfrm>
            <a:off x="793790" y="2599373"/>
            <a:ext cx="6521410" cy="861893"/>
          </a:xfrm>
          <a:prstGeom prst="rect">
            <a:avLst/>
          </a:prstGeom>
        </p:spPr>
      </p:pic>
      <p:sp>
        <p:nvSpPr>
          <p:cNvPr id="6" name="Text 3"/>
          <p:cNvSpPr/>
          <p:nvPr/>
        </p:nvSpPr>
        <p:spPr>
          <a:xfrm>
            <a:off x="1009174" y="3665934"/>
            <a:ext cx="2693551" cy="336590"/>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Fuentes de datos</a:t>
            </a:r>
            <a:endParaRPr lang="en-US" sz="2100" dirty="0"/>
          </a:p>
        </p:txBody>
      </p:sp>
      <p:sp>
        <p:nvSpPr>
          <p:cNvPr id="7" name="Text 4"/>
          <p:cNvSpPr/>
          <p:nvPr/>
        </p:nvSpPr>
        <p:spPr>
          <a:xfrm>
            <a:off x="1009174" y="4125278"/>
            <a:ext cx="6090642" cy="672227"/>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Inter" pitchFamily="34" charset="0"/>
                <a:ea typeface="Inter" pitchFamily="34" charset="-122"/>
                <a:cs typeface="Inter" pitchFamily="34" charset="-120"/>
              </a:rPr>
              <a:t>Encuesta de Estructura Salarial + Encuesta Continua de Hogares</a:t>
            </a:r>
            <a:endParaRPr lang="en-US" sz="1650" dirty="0"/>
          </a:p>
        </p:txBody>
      </p:sp>
      <p:pic>
        <p:nvPicPr>
          <p:cNvPr id="8" name="Image 1" descr="preencoded.png"/>
          <p:cNvPicPr>
            <a:picLocks noChangeAspect="1"/>
          </p:cNvPicPr>
          <p:nvPr/>
        </p:nvPicPr>
        <p:blipFill>
          <a:blip r:embed="rId4"/>
          <a:stretch>
            <a:fillRect/>
          </a:stretch>
        </p:blipFill>
        <p:spPr>
          <a:xfrm>
            <a:off x="7315200" y="2599373"/>
            <a:ext cx="6521410" cy="861893"/>
          </a:xfrm>
          <a:prstGeom prst="rect">
            <a:avLst/>
          </a:prstGeom>
        </p:spPr>
      </p:pic>
      <p:sp>
        <p:nvSpPr>
          <p:cNvPr id="9" name="Text 5"/>
          <p:cNvSpPr/>
          <p:nvPr/>
        </p:nvSpPr>
        <p:spPr>
          <a:xfrm>
            <a:off x="7530584" y="3665934"/>
            <a:ext cx="2693551" cy="336590"/>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Limpieza</a:t>
            </a:r>
            <a:endParaRPr lang="en-US" sz="2100" dirty="0"/>
          </a:p>
        </p:txBody>
      </p:sp>
      <p:sp>
        <p:nvSpPr>
          <p:cNvPr id="10" name="Text 6"/>
          <p:cNvSpPr/>
          <p:nvPr/>
        </p:nvSpPr>
        <p:spPr>
          <a:xfrm>
            <a:off x="7530584" y="4125278"/>
            <a:ext cx="6090642" cy="672227"/>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Inter" pitchFamily="34" charset="0"/>
                <a:ea typeface="Inter" pitchFamily="34" charset="-122"/>
                <a:cs typeface="Inter" pitchFamily="34" charset="-120"/>
              </a:rPr>
              <a:t>Recodificación, agrupación emancipados/no emancipados, proporciones relativas, formato numérico salarial</a:t>
            </a:r>
            <a:endParaRPr lang="en-US" sz="1650" dirty="0"/>
          </a:p>
        </p:txBody>
      </p:sp>
      <p:pic>
        <p:nvPicPr>
          <p:cNvPr id="11" name="Image 2" descr="preencoded.png"/>
          <p:cNvPicPr>
            <a:picLocks noChangeAspect="1"/>
          </p:cNvPicPr>
          <p:nvPr/>
        </p:nvPicPr>
        <p:blipFill>
          <a:blip r:embed="rId5"/>
          <a:stretch>
            <a:fillRect/>
          </a:stretch>
        </p:blipFill>
        <p:spPr>
          <a:xfrm>
            <a:off x="793790" y="5012888"/>
            <a:ext cx="6521410" cy="861893"/>
          </a:xfrm>
          <a:prstGeom prst="rect">
            <a:avLst/>
          </a:prstGeom>
        </p:spPr>
      </p:pic>
      <p:sp>
        <p:nvSpPr>
          <p:cNvPr id="12" name="Text 7"/>
          <p:cNvSpPr/>
          <p:nvPr/>
        </p:nvSpPr>
        <p:spPr>
          <a:xfrm>
            <a:off x="1009174" y="6079450"/>
            <a:ext cx="2693551" cy="336590"/>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Análisis univariante</a:t>
            </a:r>
            <a:endParaRPr lang="en-US" sz="2100" dirty="0"/>
          </a:p>
        </p:txBody>
      </p:sp>
      <p:sp>
        <p:nvSpPr>
          <p:cNvPr id="13" name="Text 8"/>
          <p:cNvSpPr/>
          <p:nvPr/>
        </p:nvSpPr>
        <p:spPr>
          <a:xfrm>
            <a:off x="1009174" y="6538793"/>
            <a:ext cx="6090642" cy="336113"/>
          </a:xfrm>
          <a:prstGeom prst="rect">
            <a:avLst/>
          </a:prstGeom>
          <a:noFill/>
          <a:ln/>
        </p:spPr>
        <p:txBody>
          <a:bodyPr wrap="none" lIns="0" tIns="0" rIns="0" bIns="0" rtlCol="0" anchor="t"/>
          <a:lstStyle/>
          <a:p>
            <a:pPr marL="0" indent="0" algn="l">
              <a:lnSpc>
                <a:spcPts val="2600"/>
              </a:lnSpc>
              <a:buNone/>
            </a:pPr>
            <a:r>
              <a:rPr lang="en-US" sz="1650" dirty="0">
                <a:solidFill>
                  <a:srgbClr val="272525"/>
                </a:solidFill>
                <a:latin typeface="Inter" pitchFamily="34" charset="0"/>
                <a:ea typeface="Inter" pitchFamily="34" charset="-122"/>
                <a:cs typeface="Inter" pitchFamily="34" charset="-120"/>
              </a:rPr>
              <a:t>Rankings por CCAA · Diferencias por sexo</a:t>
            </a:r>
            <a:endParaRPr lang="en-US" sz="1650" dirty="0"/>
          </a:p>
        </p:txBody>
      </p:sp>
      <p:pic>
        <p:nvPicPr>
          <p:cNvPr id="14" name="Image 3" descr="preencoded.png"/>
          <p:cNvPicPr>
            <a:picLocks noChangeAspect="1"/>
          </p:cNvPicPr>
          <p:nvPr/>
        </p:nvPicPr>
        <p:blipFill>
          <a:blip r:embed="rId6"/>
          <a:stretch>
            <a:fillRect/>
          </a:stretch>
        </p:blipFill>
        <p:spPr>
          <a:xfrm>
            <a:off x="7315200" y="5012888"/>
            <a:ext cx="6521410" cy="861893"/>
          </a:xfrm>
          <a:prstGeom prst="rect">
            <a:avLst/>
          </a:prstGeom>
        </p:spPr>
      </p:pic>
      <p:sp>
        <p:nvSpPr>
          <p:cNvPr id="15" name="Text 9"/>
          <p:cNvSpPr/>
          <p:nvPr/>
        </p:nvSpPr>
        <p:spPr>
          <a:xfrm>
            <a:off x="7530584" y="6079450"/>
            <a:ext cx="2849761" cy="336590"/>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Análisis multivariante</a:t>
            </a:r>
            <a:endParaRPr lang="en-US" sz="2100" dirty="0"/>
          </a:p>
        </p:txBody>
      </p:sp>
      <p:sp>
        <p:nvSpPr>
          <p:cNvPr id="16" name="Text 10"/>
          <p:cNvSpPr/>
          <p:nvPr/>
        </p:nvSpPr>
        <p:spPr>
          <a:xfrm>
            <a:off x="7530584" y="6538793"/>
            <a:ext cx="6090642" cy="336113"/>
          </a:xfrm>
          <a:prstGeom prst="rect">
            <a:avLst/>
          </a:prstGeom>
          <a:noFill/>
          <a:ln/>
        </p:spPr>
        <p:txBody>
          <a:bodyPr wrap="none" lIns="0" tIns="0" rIns="0" bIns="0" rtlCol="0" anchor="t"/>
          <a:lstStyle/>
          <a:p>
            <a:pPr marL="0" indent="0" algn="l">
              <a:lnSpc>
                <a:spcPts val="2600"/>
              </a:lnSpc>
              <a:buNone/>
            </a:pPr>
            <a:r>
              <a:rPr lang="en-US" sz="1650" dirty="0">
                <a:solidFill>
                  <a:srgbClr val="272525"/>
                </a:solidFill>
                <a:latin typeface="Inter" pitchFamily="34" charset="0"/>
                <a:ea typeface="Inter" pitchFamily="34" charset="-122"/>
                <a:cs typeface="Inter" pitchFamily="34" charset="-120"/>
              </a:rPr>
              <a:t>Correlación de Pearson · Regresión lineal · Modelo conjunto</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92492"/>
            <a:ext cx="2033230" cy="208955"/>
          </a:xfrm>
          <a:prstGeom prst="rect">
            <a:avLst/>
          </a:prstGeom>
          <a:noFill/>
          <a:ln/>
        </p:spPr>
        <p:txBody>
          <a:bodyPr wrap="none" lIns="0" tIns="0" rIns="0" bIns="0" rtlCol="0" anchor="t"/>
          <a:lstStyle/>
          <a:p>
            <a:pPr marL="0" indent="0" algn="l">
              <a:lnSpc>
                <a:spcPts val="1600"/>
              </a:lnSpc>
              <a:buNone/>
            </a:pPr>
            <a:r>
              <a:rPr lang="en-US" sz="1100" dirty="0">
                <a:solidFill>
                  <a:srgbClr val="4950BC"/>
                </a:solidFill>
                <a:latin typeface="Inter" pitchFamily="34" charset="0"/>
                <a:ea typeface="Inter" pitchFamily="34" charset="-122"/>
                <a:cs typeface="Inter" pitchFamily="34" charset="-120"/>
              </a:rPr>
              <a:t>RESULTADOS · UNIVARIANTE</a:t>
            </a:r>
            <a:endParaRPr lang="en-US" sz="1100" dirty="0"/>
          </a:p>
        </p:txBody>
      </p:sp>
      <p:sp>
        <p:nvSpPr>
          <p:cNvPr id="3" name="Text 1"/>
          <p:cNvSpPr/>
          <p:nvPr/>
        </p:nvSpPr>
        <p:spPr>
          <a:xfrm>
            <a:off x="793790" y="1213842"/>
            <a:ext cx="9480828"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No Emancipación Y Salario Medio por Sexo</a:t>
            </a:r>
            <a:endParaRPr lang="en-US" sz="3550" dirty="0"/>
          </a:p>
        </p:txBody>
      </p:sp>
      <p:pic>
        <p:nvPicPr>
          <p:cNvPr id="4" name="Image 0" descr="preencoded.png"/>
          <p:cNvPicPr>
            <a:picLocks noChangeAspect="1"/>
          </p:cNvPicPr>
          <p:nvPr/>
        </p:nvPicPr>
        <p:blipFill>
          <a:blip r:embed="rId3"/>
          <a:stretch>
            <a:fillRect/>
          </a:stretch>
        </p:blipFill>
        <p:spPr>
          <a:xfrm>
            <a:off x="793790" y="2161699"/>
            <a:ext cx="5040035" cy="5066586"/>
          </a:xfrm>
          <a:prstGeom prst="rect">
            <a:avLst/>
          </a:prstGeom>
        </p:spPr>
      </p:pic>
      <p:pic>
        <p:nvPicPr>
          <p:cNvPr id="5" name="Image 1" descr="preencoded.png"/>
          <p:cNvPicPr>
            <a:picLocks noChangeAspect="1"/>
          </p:cNvPicPr>
          <p:nvPr/>
        </p:nvPicPr>
        <p:blipFill>
          <a:blip r:embed="rId4"/>
          <a:stretch>
            <a:fillRect/>
          </a:stretch>
        </p:blipFill>
        <p:spPr>
          <a:xfrm>
            <a:off x="7544157" y="2161699"/>
            <a:ext cx="5040035" cy="50577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81407" y="677585"/>
            <a:ext cx="2375059" cy="262652"/>
          </a:xfrm>
          <a:prstGeom prst="rect">
            <a:avLst/>
          </a:prstGeom>
          <a:noFill/>
          <a:ln/>
        </p:spPr>
        <p:txBody>
          <a:bodyPr wrap="none" lIns="0" tIns="0" rIns="0" bIns="0" rtlCol="0" anchor="t"/>
          <a:lstStyle/>
          <a:p>
            <a:pPr marL="0" indent="0" algn="l">
              <a:lnSpc>
                <a:spcPts val="2050"/>
              </a:lnSpc>
              <a:buNone/>
            </a:pPr>
            <a:r>
              <a:rPr lang="en-US" sz="1300" dirty="0">
                <a:solidFill>
                  <a:srgbClr val="4950BC"/>
                </a:solidFill>
                <a:latin typeface="Inter" pitchFamily="34" charset="0"/>
                <a:ea typeface="Inter" pitchFamily="34" charset="-122"/>
                <a:cs typeface="Inter" pitchFamily="34" charset="-120"/>
              </a:rPr>
              <a:t>RESULTADOS · UNIVARIANTE</a:t>
            </a:r>
            <a:endParaRPr lang="en-US" sz="1300" dirty="0"/>
          </a:p>
        </p:txBody>
      </p:sp>
      <p:sp>
        <p:nvSpPr>
          <p:cNvPr id="3" name="Text 1"/>
          <p:cNvSpPr/>
          <p:nvPr/>
        </p:nvSpPr>
        <p:spPr>
          <a:xfrm>
            <a:off x="781407" y="1083112"/>
            <a:ext cx="6913126" cy="662821"/>
          </a:xfrm>
          <a:prstGeom prst="rect">
            <a:avLst/>
          </a:prstGeom>
          <a:noFill/>
          <a:ln/>
        </p:spPr>
        <p:txBody>
          <a:bodyPr wrap="none" lIns="0" tIns="0" rIns="0" bIns="0" rtlCol="0" anchor="t"/>
          <a:lstStyle/>
          <a:p>
            <a:pPr marL="0" indent="0" algn="l">
              <a:lnSpc>
                <a:spcPts val="5200"/>
              </a:lnSpc>
              <a:buNone/>
            </a:pPr>
            <a:r>
              <a:rPr lang="en-US" sz="4150" b="1" dirty="0">
                <a:solidFill>
                  <a:srgbClr val="000000"/>
                </a:solidFill>
                <a:latin typeface="Inter Bold" pitchFamily="34" charset="0"/>
                <a:ea typeface="Inter Bold" pitchFamily="34" charset="-122"/>
                <a:cs typeface="Inter Bold" pitchFamily="34" charset="-120"/>
              </a:rPr>
              <a:t>No Emancipación por Sexo</a:t>
            </a:r>
            <a:endParaRPr lang="en-US" sz="4150" dirty="0"/>
          </a:p>
        </p:txBody>
      </p:sp>
      <p:sp>
        <p:nvSpPr>
          <p:cNvPr id="4" name="Text 2"/>
          <p:cNvSpPr/>
          <p:nvPr/>
        </p:nvSpPr>
        <p:spPr>
          <a:xfrm>
            <a:off x="781407" y="2043470"/>
            <a:ext cx="13067586" cy="328374"/>
          </a:xfrm>
          <a:prstGeom prst="rect">
            <a:avLst/>
          </a:prstGeom>
          <a:noFill/>
          <a:ln/>
        </p:spPr>
        <p:txBody>
          <a:bodyPr wrap="none" lIns="0" tIns="0" rIns="0" bIns="0" rtlCol="0" anchor="t"/>
          <a:lstStyle/>
          <a:p>
            <a:pPr marL="0" indent="0" algn="l">
              <a:lnSpc>
                <a:spcPts val="2550"/>
              </a:lnSpc>
              <a:buNone/>
            </a:pPr>
            <a:r>
              <a:rPr lang="en-US" sz="1650" dirty="0">
                <a:solidFill>
                  <a:srgbClr val="272525"/>
                </a:solidFill>
                <a:latin typeface="Inter" pitchFamily="34" charset="0"/>
                <a:ea typeface="Inter" pitchFamily="34" charset="-122"/>
                <a:cs typeface="Inter" pitchFamily="34" charset="-120"/>
              </a:rPr>
              <a:t>En </a:t>
            </a:r>
            <a:r>
              <a:rPr lang="en-US" sz="1650" b="1" dirty="0">
                <a:solidFill>
                  <a:srgbClr val="272525"/>
                </a:solidFill>
                <a:latin typeface="Inter" pitchFamily="34" charset="0"/>
                <a:ea typeface="Inter" pitchFamily="34" charset="-122"/>
                <a:cs typeface="Inter" pitchFamily="34" charset="-120"/>
              </a:rPr>
              <a:t>todas las comunidades autónomas</a:t>
            </a:r>
            <a:r>
              <a:rPr lang="en-US" sz="1650" dirty="0">
                <a:solidFill>
                  <a:srgbClr val="272525"/>
                </a:solidFill>
                <a:latin typeface="Inter" pitchFamily="34" charset="0"/>
                <a:ea typeface="Inter" pitchFamily="34" charset="-122"/>
                <a:cs typeface="Inter" pitchFamily="34" charset="-120"/>
              </a:rPr>
              <a:t>, la proporción de hombres no emancipados supera a la de mujeres.</a:t>
            </a:r>
            <a:endParaRPr lang="en-US" sz="1650" dirty="0"/>
          </a:p>
        </p:txBody>
      </p:sp>
      <p:pic>
        <p:nvPicPr>
          <p:cNvPr id="5" name="Image 0" descr="preencoded.png"/>
          <p:cNvPicPr>
            <a:picLocks noChangeAspect="1"/>
          </p:cNvPicPr>
          <p:nvPr/>
        </p:nvPicPr>
        <p:blipFill>
          <a:blip r:embed="rId3"/>
          <a:stretch>
            <a:fillRect/>
          </a:stretch>
        </p:blipFill>
        <p:spPr>
          <a:xfrm>
            <a:off x="2454235" y="2594967"/>
            <a:ext cx="9721810" cy="3936683"/>
          </a:xfrm>
          <a:prstGeom prst="rect">
            <a:avLst/>
          </a:prstGeom>
        </p:spPr>
      </p:pic>
      <p:sp>
        <p:nvSpPr>
          <p:cNvPr id="6" name="Text 3"/>
          <p:cNvSpPr/>
          <p:nvPr/>
        </p:nvSpPr>
        <p:spPr>
          <a:xfrm>
            <a:off x="3177591" y="4079987"/>
            <a:ext cx="2180378" cy="349140"/>
          </a:xfrm>
          <a:prstGeom prst="rect">
            <a:avLst/>
          </a:prstGeom>
          <a:noFill/>
          <a:ln/>
        </p:spPr>
        <p:txBody>
          <a:bodyPr wrap="none" lIns="0" tIns="0" rIns="0" bIns="0" rtlCol="0" anchor="t"/>
          <a:lstStyle/>
          <a:p>
            <a:pPr marL="0" indent="0" algn="ctr">
              <a:lnSpc>
                <a:spcPts val="2700"/>
              </a:lnSpc>
              <a:buNone/>
            </a:pPr>
            <a:r>
              <a:rPr lang="en-US" sz="2150" b="1" dirty="0">
                <a:solidFill>
                  <a:srgbClr val="000000"/>
                </a:solidFill>
                <a:latin typeface="Inter Bold" pitchFamily="34" charset="0"/>
                <a:ea typeface="Inter Bold" pitchFamily="34" charset="-122"/>
                <a:cs typeface="Inter Bold" pitchFamily="34" charset="-120"/>
              </a:rPr>
              <a:t>Hombres</a:t>
            </a:r>
            <a:endParaRPr lang="en-US" sz="2150" dirty="0"/>
          </a:p>
        </p:txBody>
      </p:sp>
      <p:sp>
        <p:nvSpPr>
          <p:cNvPr id="7" name="Text 4"/>
          <p:cNvSpPr/>
          <p:nvPr/>
        </p:nvSpPr>
        <p:spPr>
          <a:xfrm>
            <a:off x="3177591" y="4528438"/>
            <a:ext cx="2180378" cy="540391"/>
          </a:xfrm>
          <a:prstGeom prst="rect">
            <a:avLst/>
          </a:prstGeom>
          <a:noFill/>
          <a:ln/>
        </p:spPr>
        <p:txBody>
          <a:bodyPr wrap="square" lIns="0" tIns="0" rIns="0" bIns="0" rtlCol="0" anchor="t"/>
          <a:lstStyle/>
          <a:p>
            <a:pPr marL="0" indent="0" algn="ctr">
              <a:lnSpc>
                <a:spcPts val="2100"/>
              </a:lnSpc>
              <a:buNone/>
            </a:pPr>
            <a:r>
              <a:rPr lang="en-US" sz="1750" dirty="0">
                <a:solidFill>
                  <a:srgbClr val="272525"/>
                </a:solidFill>
                <a:latin typeface="Inter" pitchFamily="34" charset="0"/>
                <a:ea typeface="Inter" pitchFamily="34" charset="-122"/>
                <a:cs typeface="Inter" pitchFamily="34" charset="-120"/>
              </a:rPr>
              <a:t>Mayor proporción de no emancipados</a:t>
            </a:r>
            <a:endParaRPr lang="en-US" sz="1750" dirty="0"/>
          </a:p>
        </p:txBody>
      </p:sp>
      <p:sp>
        <p:nvSpPr>
          <p:cNvPr id="8" name="Text 5"/>
          <p:cNvSpPr/>
          <p:nvPr/>
        </p:nvSpPr>
        <p:spPr>
          <a:xfrm>
            <a:off x="6235473" y="4073780"/>
            <a:ext cx="2180378" cy="349140"/>
          </a:xfrm>
          <a:prstGeom prst="rect">
            <a:avLst/>
          </a:prstGeom>
          <a:noFill/>
          <a:ln/>
        </p:spPr>
        <p:txBody>
          <a:bodyPr wrap="none" lIns="0" tIns="0" rIns="0" bIns="0" rtlCol="0" anchor="t"/>
          <a:lstStyle/>
          <a:p>
            <a:pPr marL="0" indent="0" algn="ctr">
              <a:lnSpc>
                <a:spcPts val="2700"/>
              </a:lnSpc>
              <a:buNone/>
            </a:pPr>
            <a:r>
              <a:rPr lang="en-US" sz="2150" b="1" dirty="0">
                <a:solidFill>
                  <a:srgbClr val="000000"/>
                </a:solidFill>
                <a:latin typeface="Inter Bold" pitchFamily="34" charset="0"/>
                <a:ea typeface="Inter Bold" pitchFamily="34" charset="-122"/>
                <a:cs typeface="Inter Bold" pitchFamily="34" charset="-120"/>
              </a:rPr>
              <a:t>Mujeres</a:t>
            </a:r>
            <a:endParaRPr lang="en-US" sz="2150" dirty="0"/>
          </a:p>
        </p:txBody>
      </p:sp>
      <p:sp>
        <p:nvSpPr>
          <p:cNvPr id="9" name="Text 6"/>
          <p:cNvSpPr/>
          <p:nvPr/>
        </p:nvSpPr>
        <p:spPr>
          <a:xfrm>
            <a:off x="6235473" y="4522231"/>
            <a:ext cx="2180378" cy="540391"/>
          </a:xfrm>
          <a:prstGeom prst="rect">
            <a:avLst/>
          </a:prstGeom>
          <a:noFill/>
          <a:ln/>
        </p:spPr>
        <p:txBody>
          <a:bodyPr wrap="square" lIns="0" tIns="0" rIns="0" bIns="0" rtlCol="0" anchor="t"/>
          <a:lstStyle/>
          <a:p>
            <a:pPr marL="0" indent="0" algn="ctr">
              <a:lnSpc>
                <a:spcPts val="2100"/>
              </a:lnSpc>
              <a:buNone/>
            </a:pPr>
            <a:r>
              <a:rPr lang="en-US" sz="1750" dirty="0">
                <a:solidFill>
                  <a:srgbClr val="272525"/>
                </a:solidFill>
                <a:latin typeface="Inter" pitchFamily="34" charset="0"/>
                <a:ea typeface="Inter" pitchFamily="34" charset="-122"/>
                <a:cs typeface="Inter" pitchFamily="34" charset="-120"/>
              </a:rPr>
              <a:t>Proporción de no emancipadas menor</a:t>
            </a:r>
            <a:endParaRPr lang="en-US" sz="1750" dirty="0"/>
          </a:p>
        </p:txBody>
      </p:sp>
      <p:sp>
        <p:nvSpPr>
          <p:cNvPr id="10" name="Text 7"/>
          <p:cNvSpPr/>
          <p:nvPr/>
        </p:nvSpPr>
        <p:spPr>
          <a:xfrm>
            <a:off x="9297622" y="3893004"/>
            <a:ext cx="2180379" cy="698279"/>
          </a:xfrm>
          <a:prstGeom prst="rect">
            <a:avLst/>
          </a:prstGeom>
          <a:noFill/>
          <a:ln/>
        </p:spPr>
        <p:txBody>
          <a:bodyPr wrap="square" lIns="0" tIns="0" rIns="0" bIns="0" rtlCol="0" anchor="t"/>
          <a:lstStyle/>
          <a:p>
            <a:pPr marL="0" indent="0" algn="ctr">
              <a:lnSpc>
                <a:spcPts val="2700"/>
              </a:lnSpc>
              <a:buNone/>
            </a:pPr>
            <a:r>
              <a:rPr lang="en-US" sz="2150" b="1" dirty="0">
                <a:solidFill>
                  <a:srgbClr val="000000"/>
                </a:solidFill>
                <a:latin typeface="Inter Bold" pitchFamily="34" charset="0"/>
                <a:ea typeface="Inter Bold" pitchFamily="34" charset="-122"/>
                <a:cs typeface="Inter Bold" pitchFamily="34" charset="-120"/>
              </a:rPr>
              <a:t>Brecha de género</a:t>
            </a:r>
            <a:endParaRPr lang="en-US" sz="2150" dirty="0"/>
          </a:p>
        </p:txBody>
      </p:sp>
      <p:sp>
        <p:nvSpPr>
          <p:cNvPr id="11" name="Text 8"/>
          <p:cNvSpPr/>
          <p:nvPr/>
        </p:nvSpPr>
        <p:spPr>
          <a:xfrm>
            <a:off x="9297622" y="4690594"/>
            <a:ext cx="2180379" cy="540391"/>
          </a:xfrm>
          <a:prstGeom prst="rect">
            <a:avLst/>
          </a:prstGeom>
          <a:noFill/>
          <a:ln/>
        </p:spPr>
        <p:txBody>
          <a:bodyPr wrap="square" lIns="0" tIns="0" rIns="0" bIns="0" rtlCol="0" anchor="t"/>
          <a:lstStyle/>
          <a:p>
            <a:pPr marL="0" indent="0" algn="ctr">
              <a:lnSpc>
                <a:spcPts val="2100"/>
              </a:lnSpc>
              <a:buNone/>
            </a:pPr>
            <a:r>
              <a:rPr lang="en-US" sz="1750" dirty="0">
                <a:solidFill>
                  <a:srgbClr val="272525"/>
                </a:solidFill>
                <a:latin typeface="Inter" pitchFamily="34" charset="0"/>
                <a:ea typeface="Inter" pitchFamily="34" charset="-122"/>
                <a:cs typeface="Inter" pitchFamily="34" charset="-120"/>
              </a:rPr>
              <a:t>Persistente en 2018–2020</a:t>
            </a:r>
            <a:endParaRPr lang="en-US" sz="1750" dirty="0"/>
          </a:p>
        </p:txBody>
      </p:sp>
      <p:sp>
        <p:nvSpPr>
          <p:cNvPr id="12" name="Shape 9"/>
          <p:cNvSpPr/>
          <p:nvPr/>
        </p:nvSpPr>
        <p:spPr>
          <a:xfrm>
            <a:off x="781407" y="6754773"/>
            <a:ext cx="13067586" cy="864156"/>
          </a:xfrm>
          <a:prstGeom prst="roundRect">
            <a:avLst>
              <a:gd name="adj" fmla="val 10310"/>
            </a:avLst>
          </a:prstGeom>
          <a:solidFill>
            <a:srgbClr val="C7C9EA"/>
          </a:solidFill>
          <a:ln/>
        </p:spPr>
        <p:txBody>
          <a:bodyPr/>
          <a:lstStyle/>
          <a:p>
            <a:endParaRPr lang="es-ES"/>
          </a:p>
        </p:txBody>
      </p:sp>
      <p:pic>
        <p:nvPicPr>
          <p:cNvPr id="13" name="Image 1" descr="preencoded.png"/>
          <p:cNvPicPr>
            <a:picLocks noChangeAspect="1"/>
          </p:cNvPicPr>
          <p:nvPr/>
        </p:nvPicPr>
        <p:blipFill>
          <a:blip r:embed="rId4"/>
          <a:stretch>
            <a:fillRect/>
          </a:stretch>
        </p:blipFill>
        <p:spPr>
          <a:xfrm>
            <a:off x="993458" y="7070407"/>
            <a:ext cx="265033" cy="212050"/>
          </a:xfrm>
          <a:prstGeom prst="rect">
            <a:avLst/>
          </a:prstGeom>
        </p:spPr>
      </p:pic>
      <p:sp>
        <p:nvSpPr>
          <p:cNvPr id="14" name="Text 10"/>
          <p:cNvSpPr/>
          <p:nvPr/>
        </p:nvSpPr>
        <p:spPr>
          <a:xfrm>
            <a:off x="1470541" y="7006114"/>
            <a:ext cx="12166402" cy="328374"/>
          </a:xfrm>
          <a:prstGeom prst="rect">
            <a:avLst/>
          </a:prstGeom>
          <a:noFill/>
          <a:ln/>
        </p:spPr>
        <p:txBody>
          <a:bodyPr wrap="none" lIns="0" tIns="0" rIns="0" bIns="0" rtlCol="0" anchor="t"/>
          <a:lstStyle/>
          <a:p>
            <a:pPr marL="0" indent="0" algn="l">
              <a:lnSpc>
                <a:spcPts val="2550"/>
              </a:lnSpc>
              <a:buNone/>
            </a:pPr>
            <a:r>
              <a:rPr lang="en-US" sz="1650" dirty="0">
                <a:solidFill>
                  <a:srgbClr val="000000"/>
                </a:solidFill>
                <a:latin typeface="Inter" pitchFamily="34" charset="0"/>
                <a:ea typeface="Inter" pitchFamily="34" charset="-122"/>
                <a:cs typeface="Inter" pitchFamily="34" charset="-120"/>
              </a:rPr>
              <a:t>La brecha de género en no emancipación es consistente y estable en los tres años analizados.</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102757"/>
            <a:ext cx="2540198" cy="290274"/>
          </a:xfrm>
          <a:prstGeom prst="rect">
            <a:avLst/>
          </a:prstGeom>
          <a:noFill/>
          <a:ln/>
        </p:spPr>
        <p:txBody>
          <a:bodyPr wrap="none" lIns="0" tIns="0" rIns="0" bIns="0" rtlCol="0" anchor="t"/>
          <a:lstStyle/>
          <a:p>
            <a:pPr marL="0" indent="0" algn="l">
              <a:lnSpc>
                <a:spcPts val="2250"/>
              </a:lnSpc>
              <a:buNone/>
            </a:pPr>
            <a:r>
              <a:rPr lang="en-US" sz="1400" dirty="0">
                <a:solidFill>
                  <a:srgbClr val="4950BC"/>
                </a:solidFill>
                <a:latin typeface="Inter" pitchFamily="34" charset="0"/>
                <a:ea typeface="Inter" pitchFamily="34" charset="-122"/>
                <a:cs typeface="Inter" pitchFamily="34" charset="-120"/>
              </a:rPr>
              <a:t>RESULTADOS · UNIVARIANTE</a:t>
            </a:r>
            <a:endParaRPr lang="en-US" sz="1400" dirty="0"/>
          </a:p>
        </p:txBody>
      </p:sp>
      <p:sp>
        <p:nvSpPr>
          <p:cNvPr id="3" name="Text 1"/>
          <p:cNvSpPr/>
          <p:nvPr/>
        </p:nvSpPr>
        <p:spPr>
          <a:xfrm>
            <a:off x="793790" y="1551742"/>
            <a:ext cx="6344483"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Salario Medio por Sexo</a:t>
            </a:r>
            <a:endParaRPr lang="en-US" sz="4450" dirty="0"/>
          </a:p>
        </p:txBody>
      </p:sp>
      <p:sp>
        <p:nvSpPr>
          <p:cNvPr id="4" name="Text 2"/>
          <p:cNvSpPr/>
          <p:nvPr/>
        </p:nvSpPr>
        <p:spPr>
          <a:xfrm>
            <a:off x="793790" y="2600682"/>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En </a:t>
            </a:r>
            <a:r>
              <a:rPr lang="en-US" sz="1750" b="1" dirty="0">
                <a:solidFill>
                  <a:srgbClr val="272525"/>
                </a:solidFill>
                <a:latin typeface="Inter" pitchFamily="34" charset="0"/>
                <a:ea typeface="Inter" pitchFamily="34" charset="-122"/>
                <a:cs typeface="Inter" pitchFamily="34" charset="-120"/>
              </a:rPr>
              <a:t>todas las comunidades autónomas</a:t>
            </a:r>
            <a:r>
              <a:rPr lang="en-US" sz="1750" dirty="0">
                <a:solidFill>
                  <a:srgbClr val="272525"/>
                </a:solidFill>
                <a:latin typeface="Inter" pitchFamily="34" charset="0"/>
                <a:ea typeface="Inter" pitchFamily="34" charset="-122"/>
                <a:cs typeface="Inter" pitchFamily="34" charset="-120"/>
              </a:rPr>
              <a:t>, el salario medio de las mujeres es inferior al de los hombres.</a:t>
            </a:r>
            <a:endParaRPr lang="en-US" sz="1750" dirty="0"/>
          </a:p>
        </p:txBody>
      </p:sp>
      <p:pic>
        <p:nvPicPr>
          <p:cNvPr id="5" name="Image 0" descr="preencoded.png"/>
          <p:cNvPicPr>
            <a:picLocks noChangeAspect="1"/>
          </p:cNvPicPr>
          <p:nvPr/>
        </p:nvPicPr>
        <p:blipFill>
          <a:blip r:embed="rId3"/>
          <a:stretch>
            <a:fillRect/>
          </a:stretch>
        </p:blipFill>
        <p:spPr>
          <a:xfrm>
            <a:off x="793790" y="3473887"/>
            <a:ext cx="6924437" cy="3465671"/>
          </a:xfrm>
          <a:prstGeom prst="rect">
            <a:avLst/>
          </a:prstGeom>
        </p:spPr>
      </p:pic>
      <p:sp>
        <p:nvSpPr>
          <p:cNvPr id="6" name="Text 3"/>
          <p:cNvSpPr/>
          <p:nvPr/>
        </p:nvSpPr>
        <p:spPr>
          <a:xfrm>
            <a:off x="824924" y="4963744"/>
            <a:ext cx="1300491" cy="389110"/>
          </a:xfrm>
          <a:prstGeom prst="rect">
            <a:avLst/>
          </a:prstGeom>
          <a:noFill/>
          <a:ln/>
        </p:spPr>
        <p:txBody>
          <a:bodyPr wrap="square" lIns="0" tIns="0" rIns="0" bIns="0" rtlCol="0" anchor="t"/>
          <a:lstStyle/>
          <a:p>
            <a:pPr marL="0" indent="0" algn="ctr">
              <a:lnSpc>
                <a:spcPts val="1500"/>
              </a:lnSpc>
              <a:buNone/>
            </a:pPr>
            <a:r>
              <a:rPr lang="en-US" sz="1200" b="1" dirty="0">
                <a:solidFill>
                  <a:srgbClr val="272525"/>
                </a:solidFill>
                <a:latin typeface="Inter Bold" pitchFamily="34" charset="0"/>
                <a:ea typeface="Inter Bold" pitchFamily="34" charset="-122"/>
                <a:cs typeface="Inter Bold" pitchFamily="34" charset="-120"/>
              </a:rPr>
              <a:t>Segregación laboral</a:t>
            </a:r>
            <a:endParaRPr lang="en-US" sz="1200" dirty="0"/>
          </a:p>
        </p:txBody>
      </p:sp>
      <p:sp>
        <p:nvSpPr>
          <p:cNvPr id="7" name="Text 4"/>
          <p:cNvSpPr/>
          <p:nvPr/>
        </p:nvSpPr>
        <p:spPr>
          <a:xfrm>
            <a:off x="3479302" y="6644483"/>
            <a:ext cx="1556439" cy="194555"/>
          </a:xfrm>
          <a:prstGeom prst="rect">
            <a:avLst/>
          </a:prstGeom>
          <a:noFill/>
          <a:ln/>
        </p:spPr>
        <p:txBody>
          <a:bodyPr wrap="none" lIns="0" tIns="0" rIns="0" bIns="0" rtlCol="0" anchor="t"/>
          <a:lstStyle/>
          <a:p>
            <a:pPr marL="0" indent="0" algn="ctr">
              <a:lnSpc>
                <a:spcPts val="1500"/>
              </a:lnSpc>
              <a:buNone/>
            </a:pPr>
            <a:r>
              <a:rPr lang="en-US" sz="1200" b="1" dirty="0">
                <a:solidFill>
                  <a:srgbClr val="272525"/>
                </a:solidFill>
                <a:latin typeface="Inter Bold" pitchFamily="34" charset="0"/>
                <a:ea typeface="Inter Bold" pitchFamily="34" charset="-122"/>
                <a:cs typeface="Inter Bold" pitchFamily="34" charset="-120"/>
              </a:rPr>
              <a:t>Menor salario</a:t>
            </a:r>
            <a:endParaRPr lang="en-US" sz="1200" dirty="0"/>
          </a:p>
        </p:txBody>
      </p:sp>
      <p:sp>
        <p:nvSpPr>
          <p:cNvPr id="8" name="Text 5"/>
          <p:cNvSpPr/>
          <p:nvPr/>
        </p:nvSpPr>
        <p:spPr>
          <a:xfrm>
            <a:off x="6379683" y="4963744"/>
            <a:ext cx="1300491" cy="389110"/>
          </a:xfrm>
          <a:prstGeom prst="rect">
            <a:avLst/>
          </a:prstGeom>
          <a:noFill/>
          <a:ln/>
        </p:spPr>
        <p:txBody>
          <a:bodyPr wrap="square" lIns="0" tIns="0" rIns="0" bIns="0" rtlCol="0" anchor="t"/>
          <a:lstStyle/>
          <a:p>
            <a:pPr marL="0" indent="0" algn="ctr">
              <a:lnSpc>
                <a:spcPts val="1500"/>
              </a:lnSpc>
              <a:buNone/>
            </a:pPr>
            <a:r>
              <a:rPr lang="en-US" sz="1200" b="1" dirty="0">
                <a:solidFill>
                  <a:srgbClr val="272525"/>
                </a:solidFill>
                <a:latin typeface="Inter Bold" pitchFamily="34" charset="0"/>
                <a:ea typeface="Inter Bold" pitchFamily="34" charset="-122"/>
                <a:cs typeface="Inter Bold" pitchFamily="34" charset="-120"/>
              </a:rPr>
              <a:t>Desventaja salarial</a:t>
            </a:r>
            <a:endParaRPr lang="en-US" sz="1200" dirty="0"/>
          </a:p>
        </p:txBody>
      </p:sp>
      <p:sp>
        <p:nvSpPr>
          <p:cNvPr id="9" name="Text 6"/>
          <p:cNvSpPr/>
          <p:nvPr/>
        </p:nvSpPr>
        <p:spPr>
          <a:xfrm>
            <a:off x="3475411" y="3616128"/>
            <a:ext cx="1556439" cy="194555"/>
          </a:xfrm>
          <a:prstGeom prst="rect">
            <a:avLst/>
          </a:prstGeom>
          <a:noFill/>
          <a:ln/>
        </p:spPr>
        <p:txBody>
          <a:bodyPr wrap="none" lIns="0" tIns="0" rIns="0" bIns="0" rtlCol="0" anchor="t"/>
          <a:lstStyle/>
          <a:p>
            <a:pPr marL="0" indent="0" algn="ctr">
              <a:lnSpc>
                <a:spcPts val="1500"/>
              </a:lnSpc>
              <a:buNone/>
            </a:pPr>
            <a:r>
              <a:rPr lang="en-US" sz="1200" b="1" dirty="0">
                <a:solidFill>
                  <a:srgbClr val="272525"/>
                </a:solidFill>
                <a:latin typeface="Inter Bold" pitchFamily="34" charset="0"/>
                <a:ea typeface="Inter Bold" pitchFamily="34" charset="-122"/>
                <a:cs typeface="Inter Bold" pitchFamily="34" charset="-120"/>
              </a:rPr>
              <a:t>Mayor salario</a:t>
            </a:r>
            <a:endParaRPr lang="en-US" sz="1200" dirty="0"/>
          </a:p>
        </p:txBody>
      </p:sp>
      <p:sp>
        <p:nvSpPr>
          <p:cNvPr id="10" name="Text 7"/>
          <p:cNvSpPr/>
          <p:nvPr/>
        </p:nvSpPr>
        <p:spPr>
          <a:xfrm>
            <a:off x="2734156" y="5874262"/>
            <a:ext cx="1335079" cy="311288"/>
          </a:xfrm>
          <a:prstGeom prst="rect">
            <a:avLst/>
          </a:prstGeom>
          <a:noFill/>
          <a:ln/>
        </p:spPr>
        <p:txBody>
          <a:bodyPr wrap="square" lIns="0" tIns="0" rIns="0" bIns="0" rtlCol="0" anchor="t"/>
          <a:lstStyle/>
          <a:p>
            <a:pPr marL="0" indent="0" algn="ctr">
              <a:lnSpc>
                <a:spcPts val="1200"/>
              </a:lnSpc>
              <a:buNone/>
            </a:pPr>
            <a:r>
              <a:rPr lang="en-US" sz="950" dirty="0">
                <a:solidFill>
                  <a:srgbClr val="272525"/>
                </a:solidFill>
                <a:latin typeface="Inter" pitchFamily="34" charset="0"/>
                <a:ea typeface="Inter" pitchFamily="34" charset="-122"/>
                <a:cs typeface="Inter" pitchFamily="34" charset="-120"/>
              </a:rPr>
              <a:t>Brecha presente en todas CCAA</a:t>
            </a:r>
            <a:endParaRPr lang="en-US" sz="950"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64211" y="5455104"/>
            <a:ext cx="193690" cy="193690"/>
          </a:xfrm>
          <a:prstGeom prst="rect">
            <a:avLst/>
          </a:prstGeom>
        </p:spPr>
      </p:pic>
      <p:sp>
        <p:nvSpPr>
          <p:cNvPr id="12" name="Text 8"/>
          <p:cNvSpPr/>
          <p:nvPr/>
        </p:nvSpPr>
        <p:spPr>
          <a:xfrm>
            <a:off x="4567296" y="5881179"/>
            <a:ext cx="1335079" cy="311288"/>
          </a:xfrm>
          <a:prstGeom prst="rect">
            <a:avLst/>
          </a:prstGeom>
          <a:noFill/>
          <a:ln/>
        </p:spPr>
        <p:txBody>
          <a:bodyPr wrap="square" lIns="0" tIns="0" rIns="0" bIns="0" rtlCol="0" anchor="t"/>
          <a:lstStyle/>
          <a:p>
            <a:pPr marL="0" indent="0" algn="ctr">
              <a:lnSpc>
                <a:spcPts val="1200"/>
              </a:lnSpc>
              <a:buNone/>
            </a:pPr>
            <a:r>
              <a:rPr lang="en-US" sz="950" dirty="0">
                <a:solidFill>
                  <a:srgbClr val="272525"/>
                </a:solidFill>
                <a:latin typeface="Inter" pitchFamily="34" charset="0"/>
                <a:ea typeface="Inter" pitchFamily="34" charset="-122"/>
                <a:cs typeface="Inter" pitchFamily="34" charset="-120"/>
              </a:rPr>
              <a:t>Doble desventaja laboral femenina</a:t>
            </a:r>
            <a:endParaRPr lang="en-US" sz="95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37990" y="5459211"/>
            <a:ext cx="193691" cy="193691"/>
          </a:xfrm>
          <a:prstGeom prst="rect">
            <a:avLst/>
          </a:prstGeom>
        </p:spPr>
      </p:pic>
      <p:sp>
        <p:nvSpPr>
          <p:cNvPr id="14" name="Text 9"/>
          <p:cNvSpPr/>
          <p:nvPr/>
        </p:nvSpPr>
        <p:spPr>
          <a:xfrm>
            <a:off x="4567296" y="4601440"/>
            <a:ext cx="1335079" cy="311288"/>
          </a:xfrm>
          <a:prstGeom prst="rect">
            <a:avLst/>
          </a:prstGeom>
          <a:noFill/>
          <a:ln/>
        </p:spPr>
        <p:txBody>
          <a:bodyPr wrap="square" lIns="0" tIns="0" rIns="0" bIns="0" rtlCol="0" anchor="t"/>
          <a:lstStyle/>
          <a:p>
            <a:pPr marL="0" indent="0" algn="ctr">
              <a:lnSpc>
                <a:spcPts val="1200"/>
              </a:lnSpc>
              <a:buNone/>
            </a:pPr>
            <a:r>
              <a:rPr lang="en-US" sz="950" dirty="0">
                <a:solidFill>
                  <a:srgbClr val="272525"/>
                </a:solidFill>
                <a:latin typeface="Inter" pitchFamily="34" charset="0"/>
                <a:ea typeface="Inter" pitchFamily="34" charset="-122"/>
                <a:cs typeface="Inter" pitchFamily="34" charset="-120"/>
              </a:rPr>
              <a:t>Mujeres: salario medio más bajo</a:t>
            </a:r>
            <a:endParaRPr lang="en-US" sz="95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37990" y="4179472"/>
            <a:ext cx="193691" cy="193690"/>
          </a:xfrm>
          <a:prstGeom prst="rect">
            <a:avLst/>
          </a:prstGeom>
        </p:spPr>
      </p:pic>
      <p:sp>
        <p:nvSpPr>
          <p:cNvPr id="16" name="Text 10"/>
          <p:cNvSpPr/>
          <p:nvPr/>
        </p:nvSpPr>
        <p:spPr>
          <a:xfrm>
            <a:off x="2692651" y="4601440"/>
            <a:ext cx="1335079" cy="311288"/>
          </a:xfrm>
          <a:prstGeom prst="rect">
            <a:avLst/>
          </a:prstGeom>
          <a:noFill/>
          <a:ln/>
        </p:spPr>
        <p:txBody>
          <a:bodyPr wrap="square" lIns="0" tIns="0" rIns="0" bIns="0" rtlCol="0" anchor="t"/>
          <a:lstStyle/>
          <a:p>
            <a:pPr marL="0" indent="0" algn="ctr">
              <a:lnSpc>
                <a:spcPts val="1200"/>
              </a:lnSpc>
              <a:buNone/>
            </a:pPr>
            <a:r>
              <a:rPr lang="en-US" sz="950" dirty="0">
                <a:solidFill>
                  <a:srgbClr val="272525"/>
                </a:solidFill>
                <a:latin typeface="Inter" pitchFamily="34" charset="0"/>
                <a:ea typeface="Inter" pitchFamily="34" charset="-122"/>
                <a:cs typeface="Inter" pitchFamily="34" charset="-120"/>
              </a:rPr>
              <a:t>Hombres: salario medio más alto</a:t>
            </a:r>
            <a:endParaRPr lang="en-US" sz="95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63346" y="4179472"/>
            <a:ext cx="193690" cy="193690"/>
          </a:xfrm>
          <a:prstGeom prst="rect">
            <a:avLst/>
          </a:prstGeom>
        </p:spPr>
      </p:pic>
      <p:sp>
        <p:nvSpPr>
          <p:cNvPr id="18" name="Shape 11"/>
          <p:cNvSpPr/>
          <p:nvPr/>
        </p:nvSpPr>
        <p:spPr>
          <a:xfrm>
            <a:off x="8279249" y="3473887"/>
            <a:ext cx="2669024" cy="2493050"/>
          </a:xfrm>
          <a:prstGeom prst="roundRect">
            <a:avLst>
              <a:gd name="adj" fmla="val 3821"/>
            </a:avLst>
          </a:prstGeom>
          <a:solidFill>
            <a:srgbClr val="DADBF1"/>
          </a:solidFill>
          <a:ln w="7620">
            <a:solidFill>
              <a:srgbClr val="C0C1D7"/>
            </a:solidFill>
            <a:prstDash val="solid"/>
          </a:ln>
        </p:spPr>
        <p:txBody>
          <a:bodyPr/>
          <a:lstStyle/>
          <a:p>
            <a:endParaRPr lang="es-ES"/>
          </a:p>
        </p:txBody>
      </p:sp>
      <p:sp>
        <p:nvSpPr>
          <p:cNvPr id="19" name="Text 12"/>
          <p:cNvSpPr/>
          <p:nvPr/>
        </p:nvSpPr>
        <p:spPr>
          <a:xfrm>
            <a:off x="8513683" y="3708321"/>
            <a:ext cx="2200156"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Brecha salarial</a:t>
            </a:r>
            <a:endParaRPr lang="en-US" sz="2200" dirty="0"/>
          </a:p>
        </p:txBody>
      </p:sp>
      <p:sp>
        <p:nvSpPr>
          <p:cNvPr id="20" name="Text 13"/>
          <p:cNvSpPr/>
          <p:nvPr/>
        </p:nvSpPr>
        <p:spPr>
          <a:xfrm>
            <a:off x="8513683" y="4289465"/>
            <a:ext cx="2200156"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Sistemática en todas las CCAA y en los tres años</a:t>
            </a:r>
            <a:endParaRPr lang="en-US" sz="1750" dirty="0"/>
          </a:p>
        </p:txBody>
      </p:sp>
      <p:sp>
        <p:nvSpPr>
          <p:cNvPr id="21" name="Shape 14"/>
          <p:cNvSpPr/>
          <p:nvPr/>
        </p:nvSpPr>
        <p:spPr>
          <a:xfrm>
            <a:off x="11175087" y="3473887"/>
            <a:ext cx="2669024" cy="2493050"/>
          </a:xfrm>
          <a:prstGeom prst="roundRect">
            <a:avLst>
              <a:gd name="adj" fmla="val 3821"/>
            </a:avLst>
          </a:prstGeom>
          <a:solidFill>
            <a:srgbClr val="DADBF1"/>
          </a:solidFill>
          <a:ln w="7620">
            <a:solidFill>
              <a:srgbClr val="C0C1D7"/>
            </a:solidFill>
            <a:prstDash val="solid"/>
          </a:ln>
        </p:spPr>
        <p:txBody>
          <a:bodyPr/>
          <a:lstStyle/>
          <a:p>
            <a:endParaRPr lang="es-ES"/>
          </a:p>
        </p:txBody>
      </p:sp>
      <p:sp>
        <p:nvSpPr>
          <p:cNvPr id="22" name="Text 15"/>
          <p:cNvSpPr/>
          <p:nvPr/>
        </p:nvSpPr>
        <p:spPr>
          <a:xfrm>
            <a:off x="11409521" y="3708321"/>
            <a:ext cx="2200156" cy="708660"/>
          </a:xfrm>
          <a:prstGeom prst="rect">
            <a:avLst/>
          </a:prstGeom>
          <a:noFill/>
          <a:ln/>
        </p:spPr>
        <p:txBody>
          <a:bodyPr wrap="squar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Doble desventaja</a:t>
            </a:r>
            <a:endParaRPr lang="en-US" sz="2200" dirty="0"/>
          </a:p>
        </p:txBody>
      </p:sp>
      <p:sp>
        <p:nvSpPr>
          <p:cNvPr id="23" name="Text 16"/>
          <p:cNvSpPr/>
          <p:nvPr/>
        </p:nvSpPr>
        <p:spPr>
          <a:xfrm>
            <a:off x="11409521" y="4643795"/>
            <a:ext cx="2200156"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Las mujeres cobran menos </a:t>
            </a:r>
            <a:r>
              <a:rPr lang="en-US" sz="1750" i="1" dirty="0">
                <a:solidFill>
                  <a:srgbClr val="272525"/>
                </a:solidFill>
                <a:latin typeface="Inter" pitchFamily="34" charset="0"/>
                <a:ea typeface="Inter" pitchFamily="34" charset="-122"/>
                <a:cs typeface="Inter" pitchFamily="34" charset="-120"/>
              </a:rPr>
              <a:t>y</a:t>
            </a:r>
            <a:r>
              <a:rPr lang="en-US" sz="1750" dirty="0">
                <a:solidFill>
                  <a:srgbClr val="272525"/>
                </a:solidFill>
                <a:latin typeface="Inter" pitchFamily="34" charset="0"/>
                <a:ea typeface="Inter" pitchFamily="34" charset="-122"/>
                <a:cs typeface="Inter" pitchFamily="34" charset="-120"/>
              </a:rPr>
              <a:t> se emancipan más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871543"/>
            <a:ext cx="3352324" cy="290274"/>
          </a:xfrm>
          <a:prstGeom prst="rect">
            <a:avLst/>
          </a:prstGeom>
          <a:noFill/>
          <a:ln/>
        </p:spPr>
        <p:txBody>
          <a:bodyPr wrap="none" lIns="0" tIns="0" rIns="0" bIns="0" rtlCol="0" anchor="t"/>
          <a:lstStyle/>
          <a:p>
            <a:pPr marL="0" indent="0" algn="l">
              <a:lnSpc>
                <a:spcPts val="2250"/>
              </a:lnSpc>
              <a:buNone/>
            </a:pPr>
            <a:r>
              <a:rPr lang="en-US" sz="1400" dirty="0">
                <a:solidFill>
                  <a:srgbClr val="4950BC"/>
                </a:solidFill>
                <a:latin typeface="Inter" pitchFamily="34" charset="0"/>
                <a:ea typeface="Inter" pitchFamily="34" charset="-122"/>
                <a:cs typeface="Inter" pitchFamily="34" charset="-120"/>
              </a:rPr>
              <a:t>RESULTADOS · RANKING TERRITORIAL</a:t>
            </a:r>
            <a:endParaRPr lang="en-US" sz="1400" dirty="0"/>
          </a:p>
        </p:txBody>
      </p:sp>
      <p:sp>
        <p:nvSpPr>
          <p:cNvPr id="3" name="Text 1"/>
          <p:cNvSpPr/>
          <p:nvPr/>
        </p:nvSpPr>
        <p:spPr>
          <a:xfrm>
            <a:off x="793790" y="2320528"/>
            <a:ext cx="10917436"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Ranking de No Emancipación por CCAA</a:t>
            </a:r>
            <a:endParaRPr lang="en-US" sz="4450" dirty="0"/>
          </a:p>
        </p:txBody>
      </p:sp>
      <p:sp>
        <p:nvSpPr>
          <p:cNvPr id="4" name="Text 2"/>
          <p:cNvSpPr/>
          <p:nvPr/>
        </p:nvSpPr>
        <p:spPr>
          <a:xfrm>
            <a:off x="793790" y="336946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Cierta </a:t>
            </a:r>
            <a:r>
              <a:rPr lang="en-US" sz="1750" b="1" dirty="0">
                <a:solidFill>
                  <a:srgbClr val="272525"/>
                </a:solidFill>
                <a:latin typeface="Inter" pitchFamily="34" charset="0"/>
                <a:ea typeface="Inter" pitchFamily="34" charset="-122"/>
                <a:cs typeface="Inter" pitchFamily="34" charset="-120"/>
              </a:rPr>
              <a:t>estabilidad en el ranking</a:t>
            </a:r>
            <a:r>
              <a:rPr lang="en-US" sz="1750" dirty="0">
                <a:solidFill>
                  <a:srgbClr val="272525"/>
                </a:solidFill>
                <a:latin typeface="Inter" pitchFamily="34" charset="0"/>
                <a:ea typeface="Inter" pitchFamily="34" charset="-122"/>
                <a:cs typeface="Inter" pitchFamily="34" charset="-120"/>
              </a:rPr>
              <a:t> entre 2018 y 2020. Extremos bien diferenciados.</a:t>
            </a:r>
            <a:endParaRPr lang="en-US" sz="1750" dirty="0"/>
          </a:p>
        </p:txBody>
      </p:sp>
      <p:pic>
        <p:nvPicPr>
          <p:cNvPr id="5" name="Image 0" descr="preencoded.png"/>
          <p:cNvPicPr>
            <a:picLocks noChangeAspect="1"/>
          </p:cNvPicPr>
          <p:nvPr/>
        </p:nvPicPr>
        <p:blipFill>
          <a:blip r:embed="rId3"/>
          <a:stretch>
            <a:fillRect/>
          </a:stretch>
        </p:blipFill>
        <p:spPr>
          <a:xfrm>
            <a:off x="793790" y="3987522"/>
            <a:ext cx="6751320" cy="2438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871543"/>
            <a:ext cx="3352324" cy="290274"/>
          </a:xfrm>
          <a:prstGeom prst="rect">
            <a:avLst/>
          </a:prstGeom>
          <a:noFill/>
          <a:ln/>
        </p:spPr>
        <p:txBody>
          <a:bodyPr wrap="none" lIns="0" tIns="0" rIns="0" bIns="0" rtlCol="0" anchor="t"/>
          <a:lstStyle/>
          <a:p>
            <a:pPr marL="0" indent="0" algn="l">
              <a:lnSpc>
                <a:spcPts val="2250"/>
              </a:lnSpc>
              <a:buNone/>
            </a:pPr>
            <a:r>
              <a:rPr lang="en-US" sz="1400" dirty="0">
                <a:solidFill>
                  <a:srgbClr val="4950BC"/>
                </a:solidFill>
                <a:latin typeface="Inter" pitchFamily="34" charset="0"/>
                <a:ea typeface="Inter" pitchFamily="34" charset="-122"/>
                <a:cs typeface="Inter" pitchFamily="34" charset="-120"/>
              </a:rPr>
              <a:t>RESULTADOS · RANKING TERRITORIAL</a:t>
            </a:r>
            <a:endParaRPr lang="en-US" sz="1400" dirty="0"/>
          </a:p>
        </p:txBody>
      </p:sp>
      <p:sp>
        <p:nvSpPr>
          <p:cNvPr id="3" name="Text 1"/>
          <p:cNvSpPr/>
          <p:nvPr/>
        </p:nvSpPr>
        <p:spPr>
          <a:xfrm>
            <a:off x="793790" y="2320528"/>
            <a:ext cx="9868972"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Ranking de Salario Medio por CCAA</a:t>
            </a:r>
            <a:endParaRPr lang="en-US" sz="4450" dirty="0"/>
          </a:p>
        </p:txBody>
      </p:sp>
      <p:sp>
        <p:nvSpPr>
          <p:cNvPr id="4" name="Text 2"/>
          <p:cNvSpPr/>
          <p:nvPr/>
        </p:nvSpPr>
        <p:spPr>
          <a:xfrm>
            <a:off x="793790" y="336946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Navarra y País Vasco lideran en salario. El ranking es </a:t>
            </a:r>
            <a:r>
              <a:rPr lang="en-US" sz="1750" b="1" dirty="0">
                <a:solidFill>
                  <a:srgbClr val="272525"/>
                </a:solidFill>
                <a:latin typeface="Inter" pitchFamily="34" charset="0"/>
                <a:ea typeface="Inter" pitchFamily="34" charset="-122"/>
                <a:cs typeface="Inter" pitchFamily="34" charset="-120"/>
              </a:rPr>
              <a:t>estable</a:t>
            </a:r>
            <a:r>
              <a:rPr lang="en-US" sz="1750" dirty="0">
                <a:solidFill>
                  <a:srgbClr val="272525"/>
                </a:solidFill>
                <a:latin typeface="Inter" pitchFamily="34" charset="0"/>
                <a:ea typeface="Inter" pitchFamily="34" charset="-122"/>
                <a:cs typeface="Inter" pitchFamily="34" charset="-120"/>
              </a:rPr>
              <a:t> en el período analizado.</a:t>
            </a:r>
            <a:endParaRPr lang="en-US" sz="1750" dirty="0"/>
          </a:p>
        </p:txBody>
      </p:sp>
      <p:pic>
        <p:nvPicPr>
          <p:cNvPr id="5" name="Image 0" descr="preencoded.png"/>
          <p:cNvPicPr>
            <a:picLocks noChangeAspect="1"/>
          </p:cNvPicPr>
          <p:nvPr/>
        </p:nvPicPr>
        <p:blipFill>
          <a:blip r:embed="rId3"/>
          <a:stretch>
            <a:fillRect/>
          </a:stretch>
        </p:blipFill>
        <p:spPr>
          <a:xfrm>
            <a:off x="793790" y="3987522"/>
            <a:ext cx="6751320" cy="2438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410653"/>
            <a:ext cx="2769513" cy="290274"/>
          </a:xfrm>
          <a:prstGeom prst="rect">
            <a:avLst/>
          </a:prstGeom>
          <a:noFill/>
          <a:ln/>
        </p:spPr>
        <p:txBody>
          <a:bodyPr wrap="none" lIns="0" tIns="0" rIns="0" bIns="0" rtlCol="0" anchor="t"/>
          <a:lstStyle/>
          <a:p>
            <a:pPr marL="0" indent="0" algn="l">
              <a:lnSpc>
                <a:spcPts val="2250"/>
              </a:lnSpc>
              <a:buNone/>
            </a:pPr>
            <a:r>
              <a:rPr lang="en-US" sz="1400" dirty="0">
                <a:solidFill>
                  <a:srgbClr val="4950BC"/>
                </a:solidFill>
                <a:latin typeface="Inter" pitchFamily="34" charset="0"/>
                <a:ea typeface="Inter" pitchFamily="34" charset="-122"/>
                <a:cs typeface="Inter" pitchFamily="34" charset="-120"/>
              </a:rPr>
              <a:t>RESULTADOS · MULTIVARIANTE</a:t>
            </a:r>
            <a:endParaRPr lang="en-US" sz="1400" dirty="0"/>
          </a:p>
        </p:txBody>
      </p:sp>
      <p:sp>
        <p:nvSpPr>
          <p:cNvPr id="3" name="Text 1"/>
          <p:cNvSpPr/>
          <p:nvPr/>
        </p:nvSpPr>
        <p:spPr>
          <a:xfrm>
            <a:off x="793790" y="1859637"/>
            <a:ext cx="9803606"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Relación Salario – No Emancipación</a:t>
            </a:r>
            <a:endParaRPr lang="en-US" sz="4450" dirty="0"/>
          </a:p>
        </p:txBody>
      </p:sp>
      <p:sp>
        <p:nvSpPr>
          <p:cNvPr id="4" name="Text 2"/>
          <p:cNvSpPr/>
          <p:nvPr/>
        </p:nvSpPr>
        <p:spPr>
          <a:xfrm>
            <a:off x="793790" y="2908578"/>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Los diagramas de dispersión revelan una </a:t>
            </a:r>
            <a:r>
              <a:rPr lang="en-US" sz="1750" b="1" dirty="0">
                <a:solidFill>
                  <a:srgbClr val="272525"/>
                </a:solidFill>
                <a:latin typeface="Inter" pitchFamily="34" charset="0"/>
                <a:ea typeface="Inter" pitchFamily="34" charset="-122"/>
                <a:cs typeface="Inter" pitchFamily="34" charset="-120"/>
              </a:rPr>
              <a:t>relación inversa</a:t>
            </a:r>
            <a:r>
              <a:rPr lang="en-US" sz="1750" dirty="0">
                <a:solidFill>
                  <a:srgbClr val="272525"/>
                </a:solidFill>
                <a:latin typeface="Inter" pitchFamily="34" charset="0"/>
                <a:ea typeface="Inter" pitchFamily="34" charset="-122"/>
                <a:cs typeface="Inter" pitchFamily="34" charset="-120"/>
              </a:rPr>
              <a:t>: a mayor salario, menor proporción de no emancipados.</a:t>
            </a:r>
            <a:endParaRPr lang="en-US" sz="1750" dirty="0"/>
          </a:p>
        </p:txBody>
      </p:sp>
      <p:pic>
        <p:nvPicPr>
          <p:cNvPr id="5" name="Image 0" descr="preencoded.png"/>
          <p:cNvPicPr>
            <a:picLocks noChangeAspect="1"/>
          </p:cNvPicPr>
          <p:nvPr/>
        </p:nvPicPr>
        <p:blipFill>
          <a:blip r:embed="rId3"/>
          <a:stretch>
            <a:fillRect/>
          </a:stretch>
        </p:blipFill>
        <p:spPr>
          <a:xfrm>
            <a:off x="793790" y="3526631"/>
            <a:ext cx="6751320" cy="2141220"/>
          </a:xfrm>
          <a:prstGeom prst="rect">
            <a:avLst/>
          </a:prstGeom>
        </p:spPr>
      </p:pic>
      <p:sp>
        <p:nvSpPr>
          <p:cNvPr id="6" name="Shape 3"/>
          <p:cNvSpPr/>
          <p:nvPr/>
        </p:nvSpPr>
        <p:spPr>
          <a:xfrm>
            <a:off x="793790" y="5923002"/>
            <a:ext cx="13042821" cy="963811"/>
          </a:xfrm>
          <a:prstGeom prst="roundRect">
            <a:avLst>
              <a:gd name="adj" fmla="val 9884"/>
            </a:avLst>
          </a:prstGeom>
          <a:solidFill>
            <a:srgbClr val="C7C9EA"/>
          </a:solidFill>
          <a:ln/>
        </p:spPr>
        <p:txBody>
          <a:bodyPr/>
          <a:lstStyle/>
          <a:p>
            <a:endParaRPr lang="es-ES"/>
          </a:p>
        </p:txBody>
      </p:sp>
      <p:pic>
        <p:nvPicPr>
          <p:cNvPr id="7" name="Image 1" descr="preencoded.png"/>
          <p:cNvPicPr>
            <a:picLocks noChangeAspect="1"/>
          </p:cNvPicPr>
          <p:nvPr/>
        </p:nvPicPr>
        <p:blipFill>
          <a:blip r:embed="rId4"/>
          <a:stretch>
            <a:fillRect/>
          </a:stretch>
        </p:blipFill>
        <p:spPr>
          <a:xfrm>
            <a:off x="1020604" y="6267093"/>
            <a:ext cx="283488" cy="226814"/>
          </a:xfrm>
          <a:prstGeom prst="rect">
            <a:avLst/>
          </a:prstGeom>
        </p:spPr>
      </p:pic>
      <p:sp>
        <p:nvSpPr>
          <p:cNvPr id="8" name="Text 4"/>
          <p:cNvSpPr/>
          <p:nvPr/>
        </p:nvSpPr>
        <p:spPr>
          <a:xfrm>
            <a:off x="1530906" y="6206490"/>
            <a:ext cx="12078891"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Correlación de Pearson negativa y significativa: 2018 r = −0.643 · 2019 r = −0.713 · 2020 r = −0.613</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396835" y="1669732"/>
            <a:ext cx="1177171" cy="108823"/>
          </a:xfrm>
          <a:prstGeom prst="rect">
            <a:avLst/>
          </a:prstGeom>
          <a:noFill/>
          <a:ln/>
        </p:spPr>
        <p:txBody>
          <a:bodyPr wrap="none" lIns="0" tIns="0" rIns="0" bIns="0" rtlCol="0" anchor="t"/>
          <a:lstStyle/>
          <a:p>
            <a:pPr marL="0" indent="0" algn="l">
              <a:lnSpc>
                <a:spcPts val="850"/>
              </a:lnSpc>
              <a:buNone/>
            </a:pPr>
            <a:r>
              <a:rPr lang="en-US" sz="700" dirty="0">
                <a:solidFill>
                  <a:srgbClr val="4950BC"/>
                </a:solidFill>
                <a:latin typeface="Inter" pitchFamily="34" charset="0"/>
                <a:ea typeface="Inter" pitchFamily="34" charset="-122"/>
                <a:cs typeface="Inter" pitchFamily="34" charset="-120"/>
              </a:rPr>
              <a:t>RESULTADOS · REGRESIÓN</a:t>
            </a:r>
            <a:endParaRPr lang="en-US" sz="700" dirty="0"/>
          </a:p>
        </p:txBody>
      </p:sp>
      <p:sp>
        <p:nvSpPr>
          <p:cNvPr id="3" name="Text 1"/>
          <p:cNvSpPr/>
          <p:nvPr/>
        </p:nvSpPr>
        <p:spPr>
          <a:xfrm>
            <a:off x="396835" y="1835110"/>
            <a:ext cx="463105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Regresión Lineal: Modelo General</a:t>
            </a:r>
            <a:endParaRPr lang="en-US" sz="2200" dirty="0"/>
          </a:p>
        </p:txBody>
      </p:sp>
      <p:pic>
        <p:nvPicPr>
          <p:cNvPr id="4" name="Image 0" descr="preencoded.png"/>
          <p:cNvPicPr>
            <a:picLocks noChangeAspect="1"/>
          </p:cNvPicPr>
          <p:nvPr/>
        </p:nvPicPr>
        <p:blipFill>
          <a:blip r:embed="rId3"/>
          <a:stretch>
            <a:fillRect/>
          </a:stretch>
        </p:blipFill>
        <p:spPr>
          <a:xfrm>
            <a:off x="396835" y="2338149"/>
            <a:ext cx="7485578" cy="3064312"/>
          </a:xfrm>
          <a:prstGeom prst="rect">
            <a:avLst/>
          </a:prstGeom>
        </p:spPr>
      </p:pic>
      <p:sp>
        <p:nvSpPr>
          <p:cNvPr id="5" name="Shape 2"/>
          <p:cNvSpPr/>
          <p:nvPr/>
        </p:nvSpPr>
        <p:spPr>
          <a:xfrm>
            <a:off x="8085058" y="2274451"/>
            <a:ext cx="6237684" cy="4319230"/>
          </a:xfrm>
          <a:prstGeom prst="roundRect">
            <a:avLst>
              <a:gd name="adj" fmla="val 1891"/>
            </a:avLst>
          </a:prstGeom>
          <a:solidFill>
            <a:srgbClr val="1A1A2E"/>
          </a:solidFill>
          <a:ln/>
        </p:spPr>
        <p:txBody>
          <a:bodyPr/>
          <a:lstStyle/>
          <a:p>
            <a:endParaRPr lang="es-ES"/>
          </a:p>
        </p:txBody>
      </p:sp>
      <p:sp>
        <p:nvSpPr>
          <p:cNvPr id="6" name="Shape 3"/>
          <p:cNvSpPr/>
          <p:nvPr/>
        </p:nvSpPr>
        <p:spPr>
          <a:xfrm>
            <a:off x="8198406" y="2338149"/>
            <a:ext cx="2977158" cy="611862"/>
          </a:xfrm>
          <a:prstGeom prst="roundRect">
            <a:avLst>
              <a:gd name="adj" fmla="val 7785"/>
            </a:avLst>
          </a:prstGeom>
          <a:solidFill>
            <a:srgbClr val="DADBF1"/>
          </a:solidFill>
          <a:ln w="7620">
            <a:solidFill>
              <a:srgbClr val="C0C1D7"/>
            </a:solidFill>
            <a:prstDash val="solid"/>
          </a:ln>
        </p:spPr>
        <p:txBody>
          <a:bodyPr/>
          <a:lstStyle/>
          <a:p>
            <a:endParaRPr lang="es-ES"/>
          </a:p>
        </p:txBody>
      </p:sp>
      <p:sp>
        <p:nvSpPr>
          <p:cNvPr id="7" name="Text 4"/>
          <p:cNvSpPr/>
          <p:nvPr/>
        </p:nvSpPr>
        <p:spPr>
          <a:xfrm>
            <a:off x="8319373" y="2459117"/>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000000"/>
                </a:solidFill>
                <a:latin typeface="Inter Bold" pitchFamily="34" charset="0"/>
                <a:ea typeface="Inter Bold" pitchFamily="34" charset="-122"/>
                <a:cs typeface="Inter Bold" pitchFamily="34" charset="-120"/>
              </a:rPr>
              <a:t>2018</a:t>
            </a:r>
            <a:endParaRPr lang="en-US" sz="1100" dirty="0"/>
          </a:p>
        </p:txBody>
      </p:sp>
      <p:sp>
        <p:nvSpPr>
          <p:cNvPr id="8" name="Text 5"/>
          <p:cNvSpPr/>
          <p:nvPr/>
        </p:nvSpPr>
        <p:spPr>
          <a:xfrm>
            <a:off x="8319373" y="2692956"/>
            <a:ext cx="2735223" cy="136088"/>
          </a:xfrm>
          <a:prstGeom prst="rect">
            <a:avLst/>
          </a:prstGeom>
          <a:noFill/>
          <a:ln/>
        </p:spPr>
        <p:txBody>
          <a:bodyPr wrap="none" lIns="0" tIns="0" rIns="0" bIns="0" rtlCol="0" anchor="t"/>
          <a:lstStyle/>
          <a:p>
            <a:pPr marL="0" indent="0" algn="l">
              <a:lnSpc>
                <a:spcPts val="1050"/>
              </a:lnSpc>
              <a:buNone/>
            </a:pPr>
            <a:r>
              <a:rPr lang="en-US" sz="850" dirty="0">
                <a:solidFill>
                  <a:srgbClr val="000000"/>
                </a:solidFill>
                <a:latin typeface="Inter" pitchFamily="34" charset="0"/>
                <a:ea typeface="Inter" pitchFamily="34" charset="-122"/>
                <a:cs typeface="Inter" pitchFamily="34" charset="-120"/>
              </a:rPr>
              <a:t>R² = 0.413 · coef = −0.0015</a:t>
            </a:r>
            <a:endParaRPr lang="en-US" sz="850" dirty="0"/>
          </a:p>
        </p:txBody>
      </p:sp>
      <p:sp>
        <p:nvSpPr>
          <p:cNvPr id="9" name="Shape 6"/>
          <p:cNvSpPr/>
          <p:nvPr/>
        </p:nvSpPr>
        <p:spPr>
          <a:xfrm>
            <a:off x="11232237" y="2338149"/>
            <a:ext cx="2977158" cy="611862"/>
          </a:xfrm>
          <a:prstGeom prst="roundRect">
            <a:avLst>
              <a:gd name="adj" fmla="val 7785"/>
            </a:avLst>
          </a:prstGeom>
          <a:solidFill>
            <a:srgbClr val="DADBF1"/>
          </a:solidFill>
          <a:ln w="7620">
            <a:solidFill>
              <a:srgbClr val="C0C1D7"/>
            </a:solidFill>
            <a:prstDash val="solid"/>
          </a:ln>
        </p:spPr>
        <p:txBody>
          <a:bodyPr/>
          <a:lstStyle/>
          <a:p>
            <a:endParaRPr lang="es-ES"/>
          </a:p>
        </p:txBody>
      </p:sp>
      <p:sp>
        <p:nvSpPr>
          <p:cNvPr id="10" name="Text 7"/>
          <p:cNvSpPr/>
          <p:nvPr/>
        </p:nvSpPr>
        <p:spPr>
          <a:xfrm>
            <a:off x="11353205" y="2459117"/>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000000"/>
                </a:solidFill>
                <a:latin typeface="Inter Bold" pitchFamily="34" charset="0"/>
                <a:ea typeface="Inter Bold" pitchFamily="34" charset="-122"/>
                <a:cs typeface="Inter Bold" pitchFamily="34" charset="-120"/>
              </a:rPr>
              <a:t>2019</a:t>
            </a:r>
            <a:endParaRPr lang="en-US" sz="1100" dirty="0"/>
          </a:p>
        </p:txBody>
      </p:sp>
      <p:sp>
        <p:nvSpPr>
          <p:cNvPr id="11" name="Text 8"/>
          <p:cNvSpPr/>
          <p:nvPr/>
        </p:nvSpPr>
        <p:spPr>
          <a:xfrm>
            <a:off x="11353205" y="2692956"/>
            <a:ext cx="2735223" cy="136088"/>
          </a:xfrm>
          <a:prstGeom prst="rect">
            <a:avLst/>
          </a:prstGeom>
          <a:noFill/>
          <a:ln/>
        </p:spPr>
        <p:txBody>
          <a:bodyPr wrap="none" lIns="0" tIns="0" rIns="0" bIns="0" rtlCol="0" anchor="t"/>
          <a:lstStyle/>
          <a:p>
            <a:pPr marL="0" indent="0" algn="l">
              <a:lnSpc>
                <a:spcPts val="1050"/>
              </a:lnSpc>
              <a:buNone/>
            </a:pPr>
            <a:r>
              <a:rPr lang="en-US" sz="850" dirty="0">
                <a:solidFill>
                  <a:srgbClr val="000000"/>
                </a:solidFill>
                <a:latin typeface="Inter" pitchFamily="34" charset="0"/>
                <a:ea typeface="Inter" pitchFamily="34" charset="-122"/>
                <a:cs typeface="Inter" pitchFamily="34" charset="-120"/>
              </a:rPr>
              <a:t>R² = 0.508 · coef = −0.0017</a:t>
            </a:r>
            <a:endParaRPr lang="en-US" sz="850" dirty="0"/>
          </a:p>
        </p:txBody>
      </p:sp>
      <p:sp>
        <p:nvSpPr>
          <p:cNvPr id="12" name="Shape 9"/>
          <p:cNvSpPr/>
          <p:nvPr/>
        </p:nvSpPr>
        <p:spPr>
          <a:xfrm>
            <a:off x="8198406" y="3006685"/>
            <a:ext cx="6010989" cy="611862"/>
          </a:xfrm>
          <a:prstGeom prst="roundRect">
            <a:avLst>
              <a:gd name="adj" fmla="val 7785"/>
            </a:avLst>
          </a:prstGeom>
          <a:solidFill>
            <a:srgbClr val="DADBF1"/>
          </a:solidFill>
          <a:ln w="7620">
            <a:solidFill>
              <a:srgbClr val="C0C1D7"/>
            </a:solidFill>
            <a:prstDash val="solid"/>
          </a:ln>
        </p:spPr>
        <p:txBody>
          <a:bodyPr/>
          <a:lstStyle/>
          <a:p>
            <a:endParaRPr lang="es-ES"/>
          </a:p>
        </p:txBody>
      </p:sp>
      <p:sp>
        <p:nvSpPr>
          <p:cNvPr id="13" name="Text 10"/>
          <p:cNvSpPr/>
          <p:nvPr/>
        </p:nvSpPr>
        <p:spPr>
          <a:xfrm>
            <a:off x="8319373" y="3127653"/>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000000"/>
                </a:solidFill>
                <a:latin typeface="Inter Bold" pitchFamily="34" charset="0"/>
                <a:ea typeface="Inter Bold" pitchFamily="34" charset="-122"/>
                <a:cs typeface="Inter Bold" pitchFamily="34" charset="-120"/>
              </a:rPr>
              <a:t>2020</a:t>
            </a:r>
            <a:endParaRPr lang="en-US" sz="1100" dirty="0"/>
          </a:p>
        </p:txBody>
      </p:sp>
      <p:sp>
        <p:nvSpPr>
          <p:cNvPr id="14" name="Text 11"/>
          <p:cNvSpPr/>
          <p:nvPr/>
        </p:nvSpPr>
        <p:spPr>
          <a:xfrm>
            <a:off x="8319373" y="3361492"/>
            <a:ext cx="5769054" cy="136088"/>
          </a:xfrm>
          <a:prstGeom prst="rect">
            <a:avLst/>
          </a:prstGeom>
          <a:noFill/>
          <a:ln/>
        </p:spPr>
        <p:txBody>
          <a:bodyPr wrap="none" lIns="0" tIns="0" rIns="0" bIns="0" rtlCol="0" anchor="t"/>
          <a:lstStyle/>
          <a:p>
            <a:pPr marL="0" indent="0" algn="l">
              <a:lnSpc>
                <a:spcPts val="1050"/>
              </a:lnSpc>
              <a:buNone/>
            </a:pPr>
            <a:r>
              <a:rPr lang="en-US" sz="850" dirty="0">
                <a:solidFill>
                  <a:srgbClr val="000000"/>
                </a:solidFill>
                <a:latin typeface="Inter" pitchFamily="34" charset="0"/>
                <a:ea typeface="Inter" pitchFamily="34" charset="-122"/>
                <a:cs typeface="Inter" pitchFamily="34" charset="-120"/>
              </a:rPr>
              <a:t>R² = 0.376 · coef = −0.0012</a:t>
            </a:r>
            <a:endParaRPr lang="en-US" sz="850" dirty="0"/>
          </a:p>
        </p:txBody>
      </p:sp>
      <p:sp>
        <p:nvSpPr>
          <p:cNvPr id="15" name="Text 12"/>
          <p:cNvSpPr/>
          <p:nvPr/>
        </p:nvSpPr>
        <p:spPr>
          <a:xfrm>
            <a:off x="8198406" y="3682246"/>
            <a:ext cx="6010989" cy="136088"/>
          </a:xfrm>
          <a:prstGeom prst="rect">
            <a:avLst/>
          </a:prstGeom>
          <a:noFill/>
          <a:ln/>
        </p:spPr>
        <p:txBody>
          <a:bodyPr wrap="none" lIns="0" tIns="0" rIns="0" bIns="0" rtlCol="0" anchor="t"/>
          <a:lstStyle/>
          <a:p>
            <a:pPr marL="0" indent="0" algn="l">
              <a:lnSpc>
                <a:spcPts val="1050"/>
              </a:lnSpc>
              <a:buNone/>
            </a:pPr>
            <a:r>
              <a:rPr lang="en-US" sz="850" dirty="0">
                <a:solidFill>
                  <a:srgbClr val="FFFFFF"/>
                </a:solidFill>
                <a:latin typeface="Inter" pitchFamily="34" charset="0"/>
                <a:ea typeface="Inter" pitchFamily="34" charset="-122"/>
                <a:cs typeface="Inter" pitchFamily="34" charset="-120"/>
              </a:rPr>
              <a:t>+1.000€ salario ≈ −1,2% no emancipación (2020)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711398"/>
            <a:ext cx="11830645" cy="637937"/>
          </a:xfrm>
          <a:prstGeom prst="rect">
            <a:avLst/>
          </a:prstGeom>
          <a:noFill/>
          <a:ln/>
        </p:spPr>
        <p:txBody>
          <a:bodyPr wrap="none" lIns="0" tIns="0" rIns="0" bIns="0" rtlCol="0" anchor="t"/>
          <a:lstStyle/>
          <a:p>
            <a:pPr marL="0" indent="0" algn="l">
              <a:lnSpc>
                <a:spcPts val="5000"/>
              </a:lnSpc>
              <a:buNone/>
            </a:pPr>
            <a:r>
              <a:rPr lang="en-US" sz="4000" b="1" dirty="0">
                <a:solidFill>
                  <a:srgbClr val="000000"/>
                </a:solidFill>
                <a:latin typeface="Inter Bold" pitchFamily="34" charset="0"/>
                <a:ea typeface="Inter Bold" pitchFamily="34" charset="-122"/>
                <a:cs typeface="Inter Bold" pitchFamily="34" charset="-120"/>
              </a:rPr>
              <a:t>Correlación de Pearson y Spearman por Género</a:t>
            </a:r>
            <a:endParaRPr lang="en-US" sz="4000" dirty="0"/>
          </a:p>
        </p:txBody>
      </p:sp>
      <p:sp>
        <p:nvSpPr>
          <p:cNvPr id="3" name="Text 1"/>
          <p:cNvSpPr/>
          <p:nvPr/>
        </p:nvSpPr>
        <p:spPr>
          <a:xfrm>
            <a:off x="793790" y="1808559"/>
            <a:ext cx="2551748" cy="318849"/>
          </a:xfrm>
          <a:prstGeom prst="rect">
            <a:avLst/>
          </a:prstGeom>
          <a:noFill/>
          <a:ln/>
        </p:spPr>
        <p:txBody>
          <a:bodyPr wrap="none" lIns="0" tIns="0" rIns="0" bIns="0" rtlCol="0" anchor="t"/>
          <a:lstStyle/>
          <a:p>
            <a:pPr marL="0" indent="0" algn="l">
              <a:lnSpc>
                <a:spcPts val="2500"/>
              </a:lnSpc>
              <a:buNone/>
            </a:pPr>
            <a:r>
              <a:rPr lang="en-US" sz="2000" b="1" dirty="0">
                <a:solidFill>
                  <a:srgbClr val="000000"/>
                </a:solidFill>
                <a:latin typeface="Inter Bold" pitchFamily="34" charset="0"/>
                <a:ea typeface="Inter Bold" pitchFamily="34" charset="-122"/>
                <a:cs typeface="Inter Bold" pitchFamily="34" charset="-120"/>
              </a:rPr>
              <a:t>2018</a:t>
            </a:r>
            <a:endParaRPr lang="en-US" sz="2000" dirty="0"/>
          </a:p>
        </p:txBody>
      </p:sp>
      <p:sp>
        <p:nvSpPr>
          <p:cNvPr id="4" name="Shape 2"/>
          <p:cNvSpPr/>
          <p:nvPr/>
        </p:nvSpPr>
        <p:spPr>
          <a:xfrm>
            <a:off x="793790" y="2334101"/>
            <a:ext cx="3970496" cy="3839766"/>
          </a:xfrm>
          <a:prstGeom prst="roundRect">
            <a:avLst>
              <a:gd name="adj" fmla="val 2233"/>
            </a:avLst>
          </a:prstGeom>
          <a:noFill/>
          <a:ln w="7620">
            <a:solidFill>
              <a:srgbClr val="000000">
                <a:alpha val="8000"/>
              </a:srgbClr>
            </a:solidFill>
            <a:prstDash val="solid"/>
          </a:ln>
        </p:spPr>
        <p:txBody>
          <a:bodyPr/>
          <a:lstStyle/>
          <a:p>
            <a:endParaRPr lang="es-ES"/>
          </a:p>
        </p:txBody>
      </p:sp>
      <p:sp>
        <p:nvSpPr>
          <p:cNvPr id="5" name="Text 3"/>
          <p:cNvSpPr/>
          <p:nvPr/>
        </p:nvSpPr>
        <p:spPr>
          <a:xfrm>
            <a:off x="1006197" y="2459474"/>
            <a:ext cx="906066"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Género</a:t>
            </a:r>
            <a:endParaRPr lang="en-US" sz="1600" dirty="0"/>
          </a:p>
        </p:txBody>
      </p:sp>
      <p:sp>
        <p:nvSpPr>
          <p:cNvPr id="6" name="Text 4"/>
          <p:cNvSpPr/>
          <p:nvPr/>
        </p:nvSpPr>
        <p:spPr>
          <a:xfrm>
            <a:off x="2328029" y="2459474"/>
            <a:ext cx="902256"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Pearson</a:t>
            </a:r>
            <a:endParaRPr lang="en-US" sz="1600" dirty="0"/>
          </a:p>
        </p:txBody>
      </p:sp>
      <p:sp>
        <p:nvSpPr>
          <p:cNvPr id="7" name="Text 5"/>
          <p:cNvSpPr/>
          <p:nvPr/>
        </p:nvSpPr>
        <p:spPr>
          <a:xfrm>
            <a:off x="3646051" y="2459474"/>
            <a:ext cx="906066" cy="620554"/>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Spearman</a:t>
            </a:r>
            <a:endParaRPr lang="en-US" sz="1600" dirty="0"/>
          </a:p>
        </p:txBody>
      </p:sp>
      <p:sp>
        <p:nvSpPr>
          <p:cNvPr id="8" name="Text 6"/>
          <p:cNvSpPr/>
          <p:nvPr/>
        </p:nvSpPr>
        <p:spPr>
          <a:xfrm>
            <a:off x="1006197" y="3323153"/>
            <a:ext cx="906066"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Hombre</a:t>
            </a:r>
            <a:endParaRPr lang="en-US" sz="1600" dirty="0"/>
          </a:p>
        </p:txBody>
      </p:sp>
      <p:sp>
        <p:nvSpPr>
          <p:cNvPr id="9" name="Text 7"/>
          <p:cNvSpPr/>
          <p:nvPr/>
        </p:nvSpPr>
        <p:spPr>
          <a:xfrm>
            <a:off x="2328029" y="3323153"/>
            <a:ext cx="902256" cy="1241108"/>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r = -0.5903 p = 0.0126</a:t>
            </a:r>
            <a:endParaRPr lang="en-US" sz="1600" dirty="0"/>
          </a:p>
        </p:txBody>
      </p:sp>
      <p:sp>
        <p:nvSpPr>
          <p:cNvPr id="10" name="Text 8"/>
          <p:cNvSpPr/>
          <p:nvPr/>
        </p:nvSpPr>
        <p:spPr>
          <a:xfrm>
            <a:off x="3646051" y="3323153"/>
            <a:ext cx="906066" cy="1241108"/>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ρ = -0.5784 p = 0.0150</a:t>
            </a:r>
            <a:endParaRPr lang="en-US" sz="1600" dirty="0"/>
          </a:p>
        </p:txBody>
      </p:sp>
      <p:sp>
        <p:nvSpPr>
          <p:cNvPr id="11" name="Text 9"/>
          <p:cNvSpPr/>
          <p:nvPr/>
        </p:nvSpPr>
        <p:spPr>
          <a:xfrm>
            <a:off x="1006197" y="4807387"/>
            <a:ext cx="906066"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Mujer</a:t>
            </a:r>
            <a:endParaRPr lang="en-US" sz="1600" dirty="0"/>
          </a:p>
        </p:txBody>
      </p:sp>
      <p:sp>
        <p:nvSpPr>
          <p:cNvPr id="12" name="Text 10"/>
          <p:cNvSpPr/>
          <p:nvPr/>
        </p:nvSpPr>
        <p:spPr>
          <a:xfrm>
            <a:off x="2328029" y="4807387"/>
            <a:ext cx="902256" cy="1241108"/>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r = -0.6526 p = 0.0045</a:t>
            </a:r>
            <a:endParaRPr lang="en-US" sz="1600" dirty="0"/>
          </a:p>
        </p:txBody>
      </p:sp>
      <p:sp>
        <p:nvSpPr>
          <p:cNvPr id="13" name="Text 11"/>
          <p:cNvSpPr/>
          <p:nvPr/>
        </p:nvSpPr>
        <p:spPr>
          <a:xfrm>
            <a:off x="3646051" y="4807387"/>
            <a:ext cx="906066" cy="1241108"/>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ρ = -0.6593 p = 0.0040</a:t>
            </a:r>
            <a:endParaRPr lang="en-US" sz="1600" dirty="0"/>
          </a:p>
        </p:txBody>
      </p:sp>
      <p:sp>
        <p:nvSpPr>
          <p:cNvPr id="14" name="Text 12"/>
          <p:cNvSpPr/>
          <p:nvPr/>
        </p:nvSpPr>
        <p:spPr>
          <a:xfrm>
            <a:off x="5269825" y="1808559"/>
            <a:ext cx="2551748" cy="318849"/>
          </a:xfrm>
          <a:prstGeom prst="rect">
            <a:avLst/>
          </a:prstGeom>
          <a:noFill/>
          <a:ln/>
        </p:spPr>
        <p:txBody>
          <a:bodyPr wrap="none" lIns="0" tIns="0" rIns="0" bIns="0" rtlCol="0" anchor="t"/>
          <a:lstStyle/>
          <a:p>
            <a:pPr marL="0" indent="0" algn="l">
              <a:lnSpc>
                <a:spcPts val="2500"/>
              </a:lnSpc>
              <a:buNone/>
            </a:pPr>
            <a:r>
              <a:rPr lang="en-US" sz="2000" b="1" dirty="0">
                <a:solidFill>
                  <a:srgbClr val="000000"/>
                </a:solidFill>
                <a:latin typeface="Inter Bold" pitchFamily="34" charset="0"/>
                <a:ea typeface="Inter Bold" pitchFamily="34" charset="-122"/>
                <a:cs typeface="Inter Bold" pitchFamily="34" charset="-120"/>
              </a:rPr>
              <a:t>2019</a:t>
            </a:r>
            <a:endParaRPr lang="en-US" sz="2000" dirty="0"/>
          </a:p>
        </p:txBody>
      </p:sp>
      <p:sp>
        <p:nvSpPr>
          <p:cNvPr id="15" name="Shape 13"/>
          <p:cNvSpPr/>
          <p:nvPr/>
        </p:nvSpPr>
        <p:spPr>
          <a:xfrm>
            <a:off x="5269825" y="2334101"/>
            <a:ext cx="3970496" cy="3839766"/>
          </a:xfrm>
          <a:prstGeom prst="roundRect">
            <a:avLst>
              <a:gd name="adj" fmla="val 2233"/>
            </a:avLst>
          </a:prstGeom>
          <a:noFill/>
          <a:ln w="7620">
            <a:solidFill>
              <a:srgbClr val="000000">
                <a:alpha val="8000"/>
              </a:srgbClr>
            </a:solidFill>
            <a:prstDash val="solid"/>
          </a:ln>
        </p:spPr>
        <p:txBody>
          <a:bodyPr/>
          <a:lstStyle/>
          <a:p>
            <a:endParaRPr lang="es-ES"/>
          </a:p>
        </p:txBody>
      </p:sp>
      <p:sp>
        <p:nvSpPr>
          <p:cNvPr id="16" name="Text 14"/>
          <p:cNvSpPr/>
          <p:nvPr/>
        </p:nvSpPr>
        <p:spPr>
          <a:xfrm>
            <a:off x="5482233" y="2459474"/>
            <a:ext cx="906066"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Género</a:t>
            </a:r>
            <a:endParaRPr lang="en-US" sz="1600" dirty="0"/>
          </a:p>
        </p:txBody>
      </p:sp>
      <p:sp>
        <p:nvSpPr>
          <p:cNvPr id="17" name="Text 15"/>
          <p:cNvSpPr/>
          <p:nvPr/>
        </p:nvSpPr>
        <p:spPr>
          <a:xfrm>
            <a:off x="6804065" y="2459474"/>
            <a:ext cx="902256"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Pearson</a:t>
            </a:r>
            <a:endParaRPr lang="en-US" sz="1600" dirty="0"/>
          </a:p>
        </p:txBody>
      </p:sp>
      <p:sp>
        <p:nvSpPr>
          <p:cNvPr id="18" name="Text 16"/>
          <p:cNvSpPr/>
          <p:nvPr/>
        </p:nvSpPr>
        <p:spPr>
          <a:xfrm>
            <a:off x="8122087" y="2459474"/>
            <a:ext cx="906066" cy="620554"/>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Spearman</a:t>
            </a:r>
            <a:endParaRPr lang="en-US" sz="1600" dirty="0"/>
          </a:p>
        </p:txBody>
      </p:sp>
      <p:sp>
        <p:nvSpPr>
          <p:cNvPr id="19" name="Text 17"/>
          <p:cNvSpPr/>
          <p:nvPr/>
        </p:nvSpPr>
        <p:spPr>
          <a:xfrm>
            <a:off x="5482233" y="3323153"/>
            <a:ext cx="906066"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Hombre</a:t>
            </a:r>
            <a:endParaRPr lang="en-US" sz="1600" dirty="0"/>
          </a:p>
        </p:txBody>
      </p:sp>
      <p:sp>
        <p:nvSpPr>
          <p:cNvPr id="20" name="Text 18"/>
          <p:cNvSpPr/>
          <p:nvPr/>
        </p:nvSpPr>
        <p:spPr>
          <a:xfrm>
            <a:off x="6804065" y="3323153"/>
            <a:ext cx="902256" cy="1241108"/>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r = -0.6170 p = 0.0083</a:t>
            </a:r>
            <a:endParaRPr lang="en-US" sz="1600" dirty="0"/>
          </a:p>
        </p:txBody>
      </p:sp>
      <p:sp>
        <p:nvSpPr>
          <p:cNvPr id="21" name="Text 19"/>
          <p:cNvSpPr/>
          <p:nvPr/>
        </p:nvSpPr>
        <p:spPr>
          <a:xfrm>
            <a:off x="8122087" y="3323153"/>
            <a:ext cx="906066" cy="1241108"/>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ρ = -0.5980 p = 0.0112</a:t>
            </a:r>
            <a:endParaRPr lang="en-US" sz="1600" dirty="0"/>
          </a:p>
        </p:txBody>
      </p:sp>
      <p:sp>
        <p:nvSpPr>
          <p:cNvPr id="22" name="Text 20"/>
          <p:cNvSpPr/>
          <p:nvPr/>
        </p:nvSpPr>
        <p:spPr>
          <a:xfrm>
            <a:off x="5482233" y="4807387"/>
            <a:ext cx="906066"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Mujer</a:t>
            </a:r>
            <a:endParaRPr lang="en-US" sz="1600" dirty="0"/>
          </a:p>
        </p:txBody>
      </p:sp>
      <p:sp>
        <p:nvSpPr>
          <p:cNvPr id="23" name="Text 21"/>
          <p:cNvSpPr/>
          <p:nvPr/>
        </p:nvSpPr>
        <p:spPr>
          <a:xfrm>
            <a:off x="6804065" y="4807387"/>
            <a:ext cx="902256" cy="1241108"/>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r = -0.7607 p = 0.0004</a:t>
            </a:r>
            <a:endParaRPr lang="en-US" sz="1600" dirty="0"/>
          </a:p>
        </p:txBody>
      </p:sp>
      <p:sp>
        <p:nvSpPr>
          <p:cNvPr id="24" name="Text 22"/>
          <p:cNvSpPr/>
          <p:nvPr/>
        </p:nvSpPr>
        <p:spPr>
          <a:xfrm>
            <a:off x="8122087" y="4807387"/>
            <a:ext cx="906066" cy="1241108"/>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ρ = -0.7574 p = 0.0004</a:t>
            </a:r>
            <a:endParaRPr lang="en-US" sz="1600" dirty="0"/>
          </a:p>
        </p:txBody>
      </p:sp>
      <p:sp>
        <p:nvSpPr>
          <p:cNvPr id="25" name="Text 23"/>
          <p:cNvSpPr/>
          <p:nvPr/>
        </p:nvSpPr>
        <p:spPr>
          <a:xfrm>
            <a:off x="9745861" y="1808559"/>
            <a:ext cx="2551748" cy="318849"/>
          </a:xfrm>
          <a:prstGeom prst="rect">
            <a:avLst/>
          </a:prstGeom>
          <a:noFill/>
          <a:ln/>
        </p:spPr>
        <p:txBody>
          <a:bodyPr wrap="none" lIns="0" tIns="0" rIns="0" bIns="0" rtlCol="0" anchor="t"/>
          <a:lstStyle/>
          <a:p>
            <a:pPr marL="0" indent="0" algn="l">
              <a:lnSpc>
                <a:spcPts val="2500"/>
              </a:lnSpc>
              <a:buNone/>
            </a:pPr>
            <a:r>
              <a:rPr lang="en-US" sz="2000" b="1" dirty="0">
                <a:solidFill>
                  <a:srgbClr val="000000"/>
                </a:solidFill>
                <a:latin typeface="Inter Bold" pitchFamily="34" charset="0"/>
                <a:ea typeface="Inter Bold" pitchFamily="34" charset="-122"/>
                <a:cs typeface="Inter Bold" pitchFamily="34" charset="-120"/>
              </a:rPr>
              <a:t>2020</a:t>
            </a:r>
            <a:endParaRPr lang="en-US" sz="2000" dirty="0"/>
          </a:p>
        </p:txBody>
      </p:sp>
      <p:sp>
        <p:nvSpPr>
          <p:cNvPr id="26" name="Shape 24"/>
          <p:cNvSpPr/>
          <p:nvPr/>
        </p:nvSpPr>
        <p:spPr>
          <a:xfrm>
            <a:off x="9745861" y="2334101"/>
            <a:ext cx="4105870" cy="3839766"/>
          </a:xfrm>
          <a:prstGeom prst="roundRect">
            <a:avLst>
              <a:gd name="adj" fmla="val 2233"/>
            </a:avLst>
          </a:prstGeom>
          <a:noFill/>
          <a:ln w="7620">
            <a:solidFill>
              <a:srgbClr val="000000">
                <a:alpha val="8000"/>
              </a:srgbClr>
            </a:solidFill>
            <a:prstDash val="solid"/>
          </a:ln>
        </p:spPr>
        <p:txBody>
          <a:bodyPr/>
          <a:lstStyle/>
          <a:p>
            <a:endParaRPr lang="es-ES"/>
          </a:p>
        </p:txBody>
      </p:sp>
      <p:sp>
        <p:nvSpPr>
          <p:cNvPr id="27" name="Text 25"/>
          <p:cNvSpPr/>
          <p:nvPr/>
        </p:nvSpPr>
        <p:spPr>
          <a:xfrm>
            <a:off x="9958268" y="2459474"/>
            <a:ext cx="951190"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Género</a:t>
            </a:r>
            <a:endParaRPr lang="en-US" sz="1600" dirty="0"/>
          </a:p>
        </p:txBody>
      </p:sp>
      <p:sp>
        <p:nvSpPr>
          <p:cNvPr id="28" name="Text 26"/>
          <p:cNvSpPr/>
          <p:nvPr/>
        </p:nvSpPr>
        <p:spPr>
          <a:xfrm>
            <a:off x="11325225" y="2459474"/>
            <a:ext cx="947380"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Pearson</a:t>
            </a:r>
            <a:endParaRPr lang="en-US" sz="1600" dirty="0"/>
          </a:p>
        </p:txBody>
      </p:sp>
      <p:sp>
        <p:nvSpPr>
          <p:cNvPr id="29" name="Text 27"/>
          <p:cNvSpPr/>
          <p:nvPr/>
        </p:nvSpPr>
        <p:spPr>
          <a:xfrm>
            <a:off x="12688372" y="2459474"/>
            <a:ext cx="951190" cy="620554"/>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Spearman</a:t>
            </a:r>
            <a:endParaRPr lang="en-US" sz="1600" dirty="0"/>
          </a:p>
        </p:txBody>
      </p:sp>
      <p:sp>
        <p:nvSpPr>
          <p:cNvPr id="30" name="Text 28"/>
          <p:cNvSpPr/>
          <p:nvPr/>
        </p:nvSpPr>
        <p:spPr>
          <a:xfrm>
            <a:off x="9958268" y="3323153"/>
            <a:ext cx="951190"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Hombre</a:t>
            </a:r>
            <a:endParaRPr lang="en-US" sz="1600" dirty="0"/>
          </a:p>
        </p:txBody>
      </p:sp>
      <p:sp>
        <p:nvSpPr>
          <p:cNvPr id="31" name="Text 29"/>
          <p:cNvSpPr/>
          <p:nvPr/>
        </p:nvSpPr>
        <p:spPr>
          <a:xfrm>
            <a:off x="11325225" y="3323153"/>
            <a:ext cx="947380" cy="1241108"/>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r = -0.5226 p = 0.0314</a:t>
            </a:r>
            <a:endParaRPr lang="en-US" sz="1600" dirty="0"/>
          </a:p>
        </p:txBody>
      </p:sp>
      <p:sp>
        <p:nvSpPr>
          <p:cNvPr id="32" name="Text 30"/>
          <p:cNvSpPr/>
          <p:nvPr/>
        </p:nvSpPr>
        <p:spPr>
          <a:xfrm>
            <a:off x="12688372" y="3323153"/>
            <a:ext cx="951190" cy="1241108"/>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ρ = -0.5098 p = 0.0366</a:t>
            </a:r>
            <a:endParaRPr lang="en-US" sz="1600" dirty="0"/>
          </a:p>
        </p:txBody>
      </p:sp>
      <p:sp>
        <p:nvSpPr>
          <p:cNvPr id="33" name="Text 31"/>
          <p:cNvSpPr/>
          <p:nvPr/>
        </p:nvSpPr>
        <p:spPr>
          <a:xfrm>
            <a:off x="9958268" y="4807387"/>
            <a:ext cx="951190"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Mujer</a:t>
            </a:r>
            <a:endParaRPr lang="en-US" sz="1600" dirty="0"/>
          </a:p>
        </p:txBody>
      </p:sp>
      <p:sp>
        <p:nvSpPr>
          <p:cNvPr id="34" name="Text 32"/>
          <p:cNvSpPr/>
          <p:nvPr/>
        </p:nvSpPr>
        <p:spPr>
          <a:xfrm>
            <a:off x="11325225" y="4807387"/>
            <a:ext cx="947380" cy="1241108"/>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r = -0.5526 p = 0.0214</a:t>
            </a:r>
            <a:endParaRPr lang="en-US" sz="1600" dirty="0"/>
          </a:p>
        </p:txBody>
      </p:sp>
      <p:sp>
        <p:nvSpPr>
          <p:cNvPr id="35" name="Text 33"/>
          <p:cNvSpPr/>
          <p:nvPr/>
        </p:nvSpPr>
        <p:spPr>
          <a:xfrm>
            <a:off x="12688372" y="4807387"/>
            <a:ext cx="951190" cy="930831"/>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ρ = -0.5221 p = 0.0316</a:t>
            </a:r>
            <a:endParaRPr lang="en-US" sz="1600" dirty="0"/>
          </a:p>
        </p:txBody>
      </p:sp>
      <p:sp>
        <p:nvSpPr>
          <p:cNvPr id="36" name="Text 34"/>
          <p:cNvSpPr/>
          <p:nvPr/>
        </p:nvSpPr>
        <p:spPr>
          <a:xfrm>
            <a:off x="793790" y="6587252"/>
            <a:ext cx="13042821" cy="930831"/>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Obtenemos valores que indican una correlación negativa estadísticamente significativa. Comparando la r de hombre y mujer en cada año, la de las mujeres supera a la de los hombres, lo que sugiere que el salario medio puede influir más en la emancipación de las mujeres que en la de los hombres.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735806"/>
            <a:ext cx="5848469" cy="531614"/>
          </a:xfrm>
          <a:prstGeom prst="rect">
            <a:avLst/>
          </a:prstGeom>
          <a:noFill/>
          <a:ln/>
        </p:spPr>
        <p:txBody>
          <a:bodyPr wrap="none" lIns="0" tIns="0" rIns="0" bIns="0" rtlCol="0" anchor="t"/>
          <a:lstStyle/>
          <a:p>
            <a:pPr marL="0" indent="0" algn="l">
              <a:lnSpc>
                <a:spcPts val="4150"/>
              </a:lnSpc>
              <a:buNone/>
            </a:pPr>
            <a:r>
              <a:rPr lang="en-US" sz="3300" b="1" dirty="0">
                <a:solidFill>
                  <a:srgbClr val="000000"/>
                </a:solidFill>
                <a:latin typeface="Inter Bold" pitchFamily="34" charset="0"/>
                <a:ea typeface="Inter Bold" pitchFamily="34" charset="-122"/>
                <a:cs typeface="Inter Bold" pitchFamily="34" charset="-120"/>
              </a:rPr>
              <a:t>Regresión Lineal por Género</a:t>
            </a:r>
            <a:endParaRPr lang="en-US" sz="3300" dirty="0"/>
          </a:p>
        </p:txBody>
      </p:sp>
      <p:sp>
        <p:nvSpPr>
          <p:cNvPr id="3" name="Shape 1"/>
          <p:cNvSpPr/>
          <p:nvPr/>
        </p:nvSpPr>
        <p:spPr>
          <a:xfrm>
            <a:off x="793790" y="1602224"/>
            <a:ext cx="6313884" cy="2904649"/>
          </a:xfrm>
          <a:prstGeom prst="roundRect">
            <a:avLst>
              <a:gd name="adj" fmla="val 2460"/>
            </a:avLst>
          </a:prstGeom>
          <a:noFill/>
          <a:ln w="7620">
            <a:solidFill>
              <a:srgbClr val="000000">
                <a:alpha val="8000"/>
              </a:srgbClr>
            </a:solidFill>
            <a:prstDash val="solid"/>
          </a:ln>
        </p:spPr>
        <p:txBody>
          <a:bodyPr/>
          <a:lstStyle/>
          <a:p>
            <a:endParaRPr lang="es-ES"/>
          </a:p>
        </p:txBody>
      </p:sp>
      <p:sp>
        <p:nvSpPr>
          <p:cNvPr id="4" name="Text 2"/>
          <p:cNvSpPr/>
          <p:nvPr/>
        </p:nvSpPr>
        <p:spPr>
          <a:xfrm>
            <a:off x="971669" y="1693902"/>
            <a:ext cx="123074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Año</a:t>
            </a:r>
            <a:endParaRPr lang="en-US" sz="1300" dirty="0"/>
          </a:p>
        </p:txBody>
      </p:sp>
      <p:sp>
        <p:nvSpPr>
          <p:cNvPr id="5" name="Text 3"/>
          <p:cNvSpPr/>
          <p:nvPr/>
        </p:nvSpPr>
        <p:spPr>
          <a:xfrm>
            <a:off x="2550081" y="1693902"/>
            <a:ext cx="122693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Género</a:t>
            </a:r>
            <a:endParaRPr lang="en-US" sz="1300" dirty="0"/>
          </a:p>
        </p:txBody>
      </p:sp>
      <p:sp>
        <p:nvSpPr>
          <p:cNvPr id="6" name="Text 4"/>
          <p:cNvSpPr/>
          <p:nvPr/>
        </p:nvSpPr>
        <p:spPr>
          <a:xfrm>
            <a:off x="4124682" y="1693902"/>
            <a:ext cx="122693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R²</a:t>
            </a:r>
            <a:endParaRPr lang="en-US" sz="1300" dirty="0"/>
          </a:p>
        </p:txBody>
      </p:sp>
      <p:sp>
        <p:nvSpPr>
          <p:cNvPr id="7" name="Text 5"/>
          <p:cNvSpPr/>
          <p:nvPr/>
        </p:nvSpPr>
        <p:spPr>
          <a:xfrm>
            <a:off x="5699284" y="1693902"/>
            <a:ext cx="123074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Coef.</a:t>
            </a:r>
            <a:endParaRPr lang="en-US" sz="1300" dirty="0"/>
          </a:p>
        </p:txBody>
      </p:sp>
      <p:sp>
        <p:nvSpPr>
          <p:cNvPr id="8" name="Text 6"/>
          <p:cNvSpPr/>
          <p:nvPr/>
        </p:nvSpPr>
        <p:spPr>
          <a:xfrm>
            <a:off x="971669" y="2107763"/>
            <a:ext cx="123074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2018</a:t>
            </a:r>
            <a:endParaRPr lang="en-US" sz="1300" dirty="0"/>
          </a:p>
        </p:txBody>
      </p:sp>
      <p:sp>
        <p:nvSpPr>
          <p:cNvPr id="9" name="Text 7"/>
          <p:cNvSpPr/>
          <p:nvPr/>
        </p:nvSpPr>
        <p:spPr>
          <a:xfrm>
            <a:off x="2550081" y="2107763"/>
            <a:ext cx="122693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Hombre</a:t>
            </a:r>
            <a:endParaRPr lang="en-US" sz="1300" dirty="0"/>
          </a:p>
        </p:txBody>
      </p:sp>
      <p:sp>
        <p:nvSpPr>
          <p:cNvPr id="10" name="Text 8"/>
          <p:cNvSpPr/>
          <p:nvPr/>
        </p:nvSpPr>
        <p:spPr>
          <a:xfrm>
            <a:off x="4124682" y="2107763"/>
            <a:ext cx="122693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0.348</a:t>
            </a:r>
            <a:endParaRPr lang="en-US" sz="1300" dirty="0"/>
          </a:p>
        </p:txBody>
      </p:sp>
      <p:sp>
        <p:nvSpPr>
          <p:cNvPr id="11" name="Text 9"/>
          <p:cNvSpPr/>
          <p:nvPr/>
        </p:nvSpPr>
        <p:spPr>
          <a:xfrm>
            <a:off x="5699284" y="2107763"/>
            <a:ext cx="123074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-0.0014</a:t>
            </a:r>
            <a:endParaRPr lang="en-US" sz="1300" dirty="0"/>
          </a:p>
        </p:txBody>
      </p:sp>
      <p:sp>
        <p:nvSpPr>
          <p:cNvPr id="12" name="Text 10"/>
          <p:cNvSpPr/>
          <p:nvPr/>
        </p:nvSpPr>
        <p:spPr>
          <a:xfrm>
            <a:off x="971669" y="2521625"/>
            <a:ext cx="123074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2018</a:t>
            </a:r>
            <a:endParaRPr lang="en-US" sz="1300" dirty="0"/>
          </a:p>
        </p:txBody>
      </p:sp>
      <p:sp>
        <p:nvSpPr>
          <p:cNvPr id="13" name="Text 11"/>
          <p:cNvSpPr/>
          <p:nvPr/>
        </p:nvSpPr>
        <p:spPr>
          <a:xfrm>
            <a:off x="2550081" y="2521625"/>
            <a:ext cx="122693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Mujer</a:t>
            </a:r>
            <a:endParaRPr lang="en-US" sz="1300" dirty="0"/>
          </a:p>
        </p:txBody>
      </p:sp>
      <p:sp>
        <p:nvSpPr>
          <p:cNvPr id="14" name="Text 12"/>
          <p:cNvSpPr/>
          <p:nvPr/>
        </p:nvSpPr>
        <p:spPr>
          <a:xfrm>
            <a:off x="4124682" y="2521625"/>
            <a:ext cx="122693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0.426</a:t>
            </a:r>
            <a:endParaRPr lang="en-US" sz="1300" dirty="0"/>
          </a:p>
        </p:txBody>
      </p:sp>
      <p:sp>
        <p:nvSpPr>
          <p:cNvPr id="15" name="Text 13"/>
          <p:cNvSpPr/>
          <p:nvPr/>
        </p:nvSpPr>
        <p:spPr>
          <a:xfrm>
            <a:off x="5699284" y="2521625"/>
            <a:ext cx="123074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-0.0015</a:t>
            </a:r>
            <a:endParaRPr lang="en-US" sz="1300" dirty="0"/>
          </a:p>
        </p:txBody>
      </p:sp>
      <p:sp>
        <p:nvSpPr>
          <p:cNvPr id="16" name="Text 14"/>
          <p:cNvSpPr/>
          <p:nvPr/>
        </p:nvSpPr>
        <p:spPr>
          <a:xfrm>
            <a:off x="971669" y="2935486"/>
            <a:ext cx="123074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2019</a:t>
            </a:r>
            <a:endParaRPr lang="en-US" sz="1300" dirty="0"/>
          </a:p>
        </p:txBody>
      </p:sp>
      <p:sp>
        <p:nvSpPr>
          <p:cNvPr id="17" name="Text 15"/>
          <p:cNvSpPr/>
          <p:nvPr/>
        </p:nvSpPr>
        <p:spPr>
          <a:xfrm>
            <a:off x="2550081" y="2935486"/>
            <a:ext cx="122693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Hombre</a:t>
            </a:r>
            <a:endParaRPr lang="en-US" sz="1300" dirty="0"/>
          </a:p>
        </p:txBody>
      </p:sp>
      <p:sp>
        <p:nvSpPr>
          <p:cNvPr id="18" name="Text 16"/>
          <p:cNvSpPr/>
          <p:nvPr/>
        </p:nvSpPr>
        <p:spPr>
          <a:xfrm>
            <a:off x="4124682" y="2935486"/>
            <a:ext cx="122693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0.381</a:t>
            </a:r>
            <a:endParaRPr lang="en-US" sz="1300" dirty="0"/>
          </a:p>
        </p:txBody>
      </p:sp>
      <p:sp>
        <p:nvSpPr>
          <p:cNvPr id="19" name="Text 17"/>
          <p:cNvSpPr/>
          <p:nvPr/>
        </p:nvSpPr>
        <p:spPr>
          <a:xfrm>
            <a:off x="5699284" y="2935486"/>
            <a:ext cx="123074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-0.0014</a:t>
            </a:r>
            <a:endParaRPr lang="en-US" sz="1300" dirty="0"/>
          </a:p>
        </p:txBody>
      </p:sp>
      <p:sp>
        <p:nvSpPr>
          <p:cNvPr id="20" name="Text 18"/>
          <p:cNvSpPr/>
          <p:nvPr/>
        </p:nvSpPr>
        <p:spPr>
          <a:xfrm>
            <a:off x="971669" y="3349347"/>
            <a:ext cx="123074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2019</a:t>
            </a:r>
            <a:endParaRPr lang="en-US" sz="1300" dirty="0"/>
          </a:p>
        </p:txBody>
      </p:sp>
      <p:sp>
        <p:nvSpPr>
          <p:cNvPr id="21" name="Text 19"/>
          <p:cNvSpPr/>
          <p:nvPr/>
        </p:nvSpPr>
        <p:spPr>
          <a:xfrm>
            <a:off x="2550081" y="3349347"/>
            <a:ext cx="122693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Mujer</a:t>
            </a:r>
            <a:endParaRPr lang="en-US" sz="1300" dirty="0"/>
          </a:p>
        </p:txBody>
      </p:sp>
      <p:sp>
        <p:nvSpPr>
          <p:cNvPr id="22" name="Text 20"/>
          <p:cNvSpPr/>
          <p:nvPr/>
        </p:nvSpPr>
        <p:spPr>
          <a:xfrm>
            <a:off x="4124682" y="3349347"/>
            <a:ext cx="122693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0.579</a:t>
            </a:r>
            <a:endParaRPr lang="en-US" sz="1300" dirty="0"/>
          </a:p>
        </p:txBody>
      </p:sp>
      <p:sp>
        <p:nvSpPr>
          <p:cNvPr id="23" name="Text 21"/>
          <p:cNvSpPr/>
          <p:nvPr/>
        </p:nvSpPr>
        <p:spPr>
          <a:xfrm>
            <a:off x="5699284" y="3349347"/>
            <a:ext cx="123074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-0.0020</a:t>
            </a:r>
            <a:endParaRPr lang="en-US" sz="1300" dirty="0"/>
          </a:p>
        </p:txBody>
      </p:sp>
      <p:sp>
        <p:nvSpPr>
          <p:cNvPr id="24" name="Text 22"/>
          <p:cNvSpPr/>
          <p:nvPr/>
        </p:nvSpPr>
        <p:spPr>
          <a:xfrm>
            <a:off x="971669" y="3763208"/>
            <a:ext cx="123074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2020</a:t>
            </a:r>
            <a:endParaRPr lang="en-US" sz="1300" dirty="0"/>
          </a:p>
        </p:txBody>
      </p:sp>
      <p:sp>
        <p:nvSpPr>
          <p:cNvPr id="25" name="Text 23"/>
          <p:cNvSpPr/>
          <p:nvPr/>
        </p:nvSpPr>
        <p:spPr>
          <a:xfrm>
            <a:off x="2550081" y="3763208"/>
            <a:ext cx="122693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Hombre</a:t>
            </a:r>
            <a:endParaRPr lang="en-US" sz="1300" dirty="0"/>
          </a:p>
        </p:txBody>
      </p:sp>
      <p:sp>
        <p:nvSpPr>
          <p:cNvPr id="26" name="Text 24"/>
          <p:cNvSpPr/>
          <p:nvPr/>
        </p:nvSpPr>
        <p:spPr>
          <a:xfrm>
            <a:off x="4124682" y="3763208"/>
            <a:ext cx="122693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0.273</a:t>
            </a:r>
            <a:endParaRPr lang="en-US" sz="1300" dirty="0"/>
          </a:p>
        </p:txBody>
      </p:sp>
      <p:sp>
        <p:nvSpPr>
          <p:cNvPr id="27" name="Text 25"/>
          <p:cNvSpPr/>
          <p:nvPr/>
        </p:nvSpPr>
        <p:spPr>
          <a:xfrm>
            <a:off x="5699284" y="3763208"/>
            <a:ext cx="123074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-0.0010</a:t>
            </a:r>
            <a:endParaRPr lang="en-US" sz="1300" dirty="0"/>
          </a:p>
        </p:txBody>
      </p:sp>
      <p:sp>
        <p:nvSpPr>
          <p:cNvPr id="28" name="Text 26"/>
          <p:cNvSpPr/>
          <p:nvPr/>
        </p:nvSpPr>
        <p:spPr>
          <a:xfrm>
            <a:off x="971669" y="4177070"/>
            <a:ext cx="123074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2020</a:t>
            </a:r>
            <a:endParaRPr lang="en-US" sz="1300" dirty="0"/>
          </a:p>
        </p:txBody>
      </p:sp>
      <p:sp>
        <p:nvSpPr>
          <p:cNvPr id="29" name="Text 27"/>
          <p:cNvSpPr/>
          <p:nvPr/>
        </p:nvSpPr>
        <p:spPr>
          <a:xfrm>
            <a:off x="2550081" y="4177070"/>
            <a:ext cx="122693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Mujer</a:t>
            </a:r>
            <a:endParaRPr lang="en-US" sz="1300" dirty="0"/>
          </a:p>
        </p:txBody>
      </p:sp>
      <p:sp>
        <p:nvSpPr>
          <p:cNvPr id="30" name="Text 28"/>
          <p:cNvSpPr/>
          <p:nvPr/>
        </p:nvSpPr>
        <p:spPr>
          <a:xfrm>
            <a:off x="4124682" y="4177070"/>
            <a:ext cx="122693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0.305</a:t>
            </a:r>
            <a:endParaRPr lang="en-US" sz="1300" dirty="0"/>
          </a:p>
        </p:txBody>
      </p:sp>
      <p:sp>
        <p:nvSpPr>
          <p:cNvPr id="31" name="Text 29"/>
          <p:cNvSpPr/>
          <p:nvPr/>
        </p:nvSpPr>
        <p:spPr>
          <a:xfrm>
            <a:off x="5699284" y="4177070"/>
            <a:ext cx="1230749"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-0.0012</a:t>
            </a:r>
            <a:endParaRPr lang="en-US" sz="1300" dirty="0"/>
          </a:p>
        </p:txBody>
      </p:sp>
      <p:sp>
        <p:nvSpPr>
          <p:cNvPr id="32" name="Shape 30"/>
          <p:cNvSpPr/>
          <p:nvPr/>
        </p:nvSpPr>
        <p:spPr>
          <a:xfrm>
            <a:off x="7530346" y="1602224"/>
            <a:ext cx="6313884" cy="1370052"/>
          </a:xfrm>
          <a:prstGeom prst="roundRect">
            <a:avLst>
              <a:gd name="adj" fmla="val 8009"/>
            </a:avLst>
          </a:prstGeom>
          <a:solidFill>
            <a:srgbClr val="FFFFFF"/>
          </a:solidFill>
          <a:ln w="22860">
            <a:solidFill>
              <a:srgbClr val="C0C1D7"/>
            </a:solidFill>
            <a:prstDash val="solid"/>
          </a:ln>
        </p:spPr>
        <p:txBody>
          <a:bodyPr/>
          <a:lstStyle/>
          <a:p>
            <a:endParaRPr lang="es-ES"/>
          </a:p>
        </p:txBody>
      </p:sp>
      <p:sp>
        <p:nvSpPr>
          <p:cNvPr id="33" name="Shape 31"/>
          <p:cNvSpPr/>
          <p:nvPr/>
        </p:nvSpPr>
        <p:spPr>
          <a:xfrm>
            <a:off x="7507486" y="1602224"/>
            <a:ext cx="91440" cy="1370052"/>
          </a:xfrm>
          <a:prstGeom prst="roundRect">
            <a:avLst>
              <a:gd name="adj" fmla="val 78140"/>
            </a:avLst>
          </a:prstGeom>
          <a:solidFill>
            <a:srgbClr val="4950BC"/>
          </a:solidFill>
          <a:ln/>
        </p:spPr>
        <p:txBody>
          <a:bodyPr/>
          <a:lstStyle/>
          <a:p>
            <a:endParaRPr lang="es-ES"/>
          </a:p>
        </p:txBody>
      </p:sp>
      <p:sp>
        <p:nvSpPr>
          <p:cNvPr id="34" name="Text 32"/>
          <p:cNvSpPr/>
          <p:nvPr/>
        </p:nvSpPr>
        <p:spPr>
          <a:xfrm>
            <a:off x="7791807" y="1795105"/>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272525"/>
                </a:solidFill>
                <a:latin typeface="Inter Bold" pitchFamily="34" charset="0"/>
                <a:ea typeface="Inter Bold" pitchFamily="34" charset="-122"/>
                <a:cs typeface="Inter Bold" pitchFamily="34" charset="-120"/>
              </a:rPr>
              <a:t>2018</a:t>
            </a:r>
            <a:endParaRPr lang="en-US" sz="1650" dirty="0"/>
          </a:p>
        </p:txBody>
      </p:sp>
      <p:sp>
        <p:nvSpPr>
          <p:cNvPr id="35" name="Text 33"/>
          <p:cNvSpPr/>
          <p:nvPr/>
        </p:nvSpPr>
        <p:spPr>
          <a:xfrm>
            <a:off x="7791807" y="2188369"/>
            <a:ext cx="5859542" cy="238125"/>
          </a:xfrm>
          <a:prstGeom prst="rect">
            <a:avLst/>
          </a:prstGeom>
          <a:noFill/>
          <a:ln/>
        </p:spPr>
        <p:txBody>
          <a:bodyPr wrap="none" lIns="0" tIns="0" rIns="0" bIns="0" rtlCol="0" anchor="t"/>
          <a:lstStyle/>
          <a:p>
            <a:pPr marL="0" indent="0" algn="l">
              <a:lnSpc>
                <a:spcPts val="1850"/>
              </a:lnSpc>
              <a:buNone/>
            </a:pPr>
            <a:r>
              <a:rPr lang="en-US" sz="1300" b="1" dirty="0">
                <a:solidFill>
                  <a:srgbClr val="272525"/>
                </a:solidFill>
                <a:latin typeface="Inter" pitchFamily="34" charset="0"/>
                <a:ea typeface="Inter" pitchFamily="34" charset="-122"/>
                <a:cs typeface="Inter" pitchFamily="34" charset="-120"/>
              </a:rPr>
              <a:t>Hombre:</a:t>
            </a:r>
            <a:r>
              <a:rPr lang="en-US" sz="1300" dirty="0">
                <a:solidFill>
                  <a:srgbClr val="272525"/>
                </a:solidFill>
                <a:latin typeface="Inter" pitchFamily="34" charset="0"/>
                <a:ea typeface="Inter" pitchFamily="34" charset="-122"/>
                <a:cs typeface="Inter" pitchFamily="34" charset="-120"/>
              </a:rPr>
              <a:t> R² = 0.348, coef = -0.0014, p-valor = 0.013</a:t>
            </a:r>
            <a:endParaRPr lang="en-US" sz="1300" dirty="0"/>
          </a:p>
        </p:txBody>
      </p:sp>
      <p:sp>
        <p:nvSpPr>
          <p:cNvPr id="36" name="Text 34"/>
          <p:cNvSpPr/>
          <p:nvPr/>
        </p:nvSpPr>
        <p:spPr>
          <a:xfrm>
            <a:off x="7791807" y="2541270"/>
            <a:ext cx="5859542" cy="238125"/>
          </a:xfrm>
          <a:prstGeom prst="rect">
            <a:avLst/>
          </a:prstGeom>
          <a:noFill/>
          <a:ln/>
        </p:spPr>
        <p:txBody>
          <a:bodyPr wrap="none" lIns="0" tIns="0" rIns="0" bIns="0" rtlCol="0" anchor="t"/>
          <a:lstStyle/>
          <a:p>
            <a:pPr marL="0" indent="0" algn="l">
              <a:lnSpc>
                <a:spcPts val="1850"/>
              </a:lnSpc>
              <a:buNone/>
            </a:pPr>
            <a:r>
              <a:rPr lang="en-US" sz="1300" b="1" dirty="0">
                <a:solidFill>
                  <a:srgbClr val="272525"/>
                </a:solidFill>
                <a:latin typeface="Inter" pitchFamily="34" charset="0"/>
                <a:ea typeface="Inter" pitchFamily="34" charset="-122"/>
                <a:cs typeface="Inter" pitchFamily="34" charset="-120"/>
              </a:rPr>
              <a:t>Mujer:</a:t>
            </a:r>
            <a:r>
              <a:rPr lang="en-US" sz="1300" dirty="0">
                <a:solidFill>
                  <a:srgbClr val="272525"/>
                </a:solidFill>
                <a:latin typeface="Inter" pitchFamily="34" charset="0"/>
                <a:ea typeface="Inter" pitchFamily="34" charset="-122"/>
                <a:cs typeface="Inter" pitchFamily="34" charset="-120"/>
              </a:rPr>
              <a:t> R² = 0.426, coef = -0.0015, p-valor = 0.005</a:t>
            </a:r>
            <a:endParaRPr lang="en-US" sz="1300" dirty="0"/>
          </a:p>
        </p:txBody>
      </p:sp>
      <p:sp>
        <p:nvSpPr>
          <p:cNvPr id="37" name="Shape 35"/>
          <p:cNvSpPr/>
          <p:nvPr/>
        </p:nvSpPr>
        <p:spPr>
          <a:xfrm>
            <a:off x="7530346" y="3099792"/>
            <a:ext cx="6313884" cy="1370052"/>
          </a:xfrm>
          <a:prstGeom prst="roundRect">
            <a:avLst>
              <a:gd name="adj" fmla="val 8009"/>
            </a:avLst>
          </a:prstGeom>
          <a:solidFill>
            <a:srgbClr val="FFFFFF"/>
          </a:solidFill>
          <a:ln w="22860">
            <a:solidFill>
              <a:srgbClr val="C0C1D7"/>
            </a:solidFill>
            <a:prstDash val="solid"/>
          </a:ln>
        </p:spPr>
        <p:txBody>
          <a:bodyPr/>
          <a:lstStyle/>
          <a:p>
            <a:endParaRPr lang="es-ES"/>
          </a:p>
        </p:txBody>
      </p:sp>
      <p:sp>
        <p:nvSpPr>
          <p:cNvPr id="38" name="Shape 36"/>
          <p:cNvSpPr/>
          <p:nvPr/>
        </p:nvSpPr>
        <p:spPr>
          <a:xfrm>
            <a:off x="7507486" y="3099792"/>
            <a:ext cx="91440" cy="1370052"/>
          </a:xfrm>
          <a:prstGeom prst="roundRect">
            <a:avLst>
              <a:gd name="adj" fmla="val 78140"/>
            </a:avLst>
          </a:prstGeom>
          <a:solidFill>
            <a:srgbClr val="4950BC"/>
          </a:solidFill>
          <a:ln/>
        </p:spPr>
        <p:txBody>
          <a:bodyPr/>
          <a:lstStyle/>
          <a:p>
            <a:endParaRPr lang="es-ES"/>
          </a:p>
        </p:txBody>
      </p:sp>
      <p:sp>
        <p:nvSpPr>
          <p:cNvPr id="39" name="Text 37"/>
          <p:cNvSpPr/>
          <p:nvPr/>
        </p:nvSpPr>
        <p:spPr>
          <a:xfrm>
            <a:off x="7791807" y="3292673"/>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272525"/>
                </a:solidFill>
                <a:latin typeface="Inter Bold" pitchFamily="34" charset="0"/>
                <a:ea typeface="Inter Bold" pitchFamily="34" charset="-122"/>
                <a:cs typeface="Inter Bold" pitchFamily="34" charset="-120"/>
              </a:rPr>
              <a:t>2019</a:t>
            </a:r>
            <a:endParaRPr lang="en-US" sz="1650" dirty="0"/>
          </a:p>
        </p:txBody>
      </p:sp>
      <p:sp>
        <p:nvSpPr>
          <p:cNvPr id="40" name="Text 38"/>
          <p:cNvSpPr/>
          <p:nvPr/>
        </p:nvSpPr>
        <p:spPr>
          <a:xfrm>
            <a:off x="7791807" y="3685937"/>
            <a:ext cx="5859542" cy="238125"/>
          </a:xfrm>
          <a:prstGeom prst="rect">
            <a:avLst/>
          </a:prstGeom>
          <a:noFill/>
          <a:ln/>
        </p:spPr>
        <p:txBody>
          <a:bodyPr wrap="none" lIns="0" tIns="0" rIns="0" bIns="0" rtlCol="0" anchor="t"/>
          <a:lstStyle/>
          <a:p>
            <a:pPr marL="0" indent="0" algn="l">
              <a:lnSpc>
                <a:spcPts val="1850"/>
              </a:lnSpc>
              <a:buNone/>
            </a:pPr>
            <a:r>
              <a:rPr lang="en-US" sz="1300" b="1" dirty="0">
                <a:solidFill>
                  <a:srgbClr val="272525"/>
                </a:solidFill>
                <a:latin typeface="Inter" pitchFamily="34" charset="0"/>
                <a:ea typeface="Inter" pitchFamily="34" charset="-122"/>
                <a:cs typeface="Inter" pitchFamily="34" charset="-120"/>
              </a:rPr>
              <a:t>Hombre:</a:t>
            </a:r>
            <a:r>
              <a:rPr lang="en-US" sz="1300" dirty="0">
                <a:solidFill>
                  <a:srgbClr val="272525"/>
                </a:solidFill>
                <a:latin typeface="Inter" pitchFamily="34" charset="0"/>
                <a:ea typeface="Inter" pitchFamily="34" charset="-122"/>
                <a:cs typeface="Inter" pitchFamily="34" charset="-120"/>
              </a:rPr>
              <a:t> R² = 0.381, coef = -0.0014, p-valor = 0.008</a:t>
            </a:r>
            <a:endParaRPr lang="en-US" sz="1300" dirty="0"/>
          </a:p>
        </p:txBody>
      </p:sp>
      <p:sp>
        <p:nvSpPr>
          <p:cNvPr id="41" name="Text 39"/>
          <p:cNvSpPr/>
          <p:nvPr/>
        </p:nvSpPr>
        <p:spPr>
          <a:xfrm>
            <a:off x="7791807" y="4038838"/>
            <a:ext cx="5859542" cy="238125"/>
          </a:xfrm>
          <a:prstGeom prst="rect">
            <a:avLst/>
          </a:prstGeom>
          <a:noFill/>
          <a:ln/>
        </p:spPr>
        <p:txBody>
          <a:bodyPr wrap="none" lIns="0" tIns="0" rIns="0" bIns="0" rtlCol="0" anchor="t"/>
          <a:lstStyle/>
          <a:p>
            <a:pPr marL="0" indent="0" algn="l">
              <a:lnSpc>
                <a:spcPts val="1850"/>
              </a:lnSpc>
              <a:buNone/>
            </a:pPr>
            <a:r>
              <a:rPr lang="en-US" sz="1300" b="1" dirty="0">
                <a:solidFill>
                  <a:srgbClr val="272525"/>
                </a:solidFill>
                <a:latin typeface="Inter" pitchFamily="34" charset="0"/>
                <a:ea typeface="Inter" pitchFamily="34" charset="-122"/>
                <a:cs typeface="Inter" pitchFamily="34" charset="-120"/>
              </a:rPr>
              <a:t>Mujer:</a:t>
            </a:r>
            <a:r>
              <a:rPr lang="en-US" sz="1300" dirty="0">
                <a:solidFill>
                  <a:srgbClr val="272525"/>
                </a:solidFill>
                <a:latin typeface="Inter" pitchFamily="34" charset="0"/>
                <a:ea typeface="Inter" pitchFamily="34" charset="-122"/>
                <a:cs typeface="Inter" pitchFamily="34" charset="-120"/>
              </a:rPr>
              <a:t> R² = 0.579, coef = -0.0020, p-valor = 0.000</a:t>
            </a:r>
            <a:endParaRPr lang="en-US" sz="1300" dirty="0"/>
          </a:p>
        </p:txBody>
      </p:sp>
      <p:sp>
        <p:nvSpPr>
          <p:cNvPr id="42" name="Shape 40"/>
          <p:cNvSpPr/>
          <p:nvPr/>
        </p:nvSpPr>
        <p:spPr>
          <a:xfrm>
            <a:off x="7530346" y="4597360"/>
            <a:ext cx="6313884" cy="1370052"/>
          </a:xfrm>
          <a:prstGeom prst="roundRect">
            <a:avLst>
              <a:gd name="adj" fmla="val 8009"/>
            </a:avLst>
          </a:prstGeom>
          <a:solidFill>
            <a:srgbClr val="FFFFFF"/>
          </a:solidFill>
          <a:ln w="22860">
            <a:solidFill>
              <a:srgbClr val="C0C1D7"/>
            </a:solidFill>
            <a:prstDash val="solid"/>
          </a:ln>
        </p:spPr>
        <p:txBody>
          <a:bodyPr/>
          <a:lstStyle/>
          <a:p>
            <a:endParaRPr lang="es-ES"/>
          </a:p>
        </p:txBody>
      </p:sp>
      <p:sp>
        <p:nvSpPr>
          <p:cNvPr id="43" name="Shape 41"/>
          <p:cNvSpPr/>
          <p:nvPr/>
        </p:nvSpPr>
        <p:spPr>
          <a:xfrm>
            <a:off x="7507486" y="4597360"/>
            <a:ext cx="91440" cy="1370052"/>
          </a:xfrm>
          <a:prstGeom prst="roundRect">
            <a:avLst>
              <a:gd name="adj" fmla="val 78140"/>
            </a:avLst>
          </a:prstGeom>
          <a:solidFill>
            <a:srgbClr val="4950BC"/>
          </a:solidFill>
          <a:ln/>
        </p:spPr>
        <p:txBody>
          <a:bodyPr/>
          <a:lstStyle/>
          <a:p>
            <a:endParaRPr lang="es-ES"/>
          </a:p>
        </p:txBody>
      </p:sp>
      <p:sp>
        <p:nvSpPr>
          <p:cNvPr id="44" name="Text 42"/>
          <p:cNvSpPr/>
          <p:nvPr/>
        </p:nvSpPr>
        <p:spPr>
          <a:xfrm>
            <a:off x="7791807" y="4790242"/>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272525"/>
                </a:solidFill>
                <a:latin typeface="Inter Bold" pitchFamily="34" charset="0"/>
                <a:ea typeface="Inter Bold" pitchFamily="34" charset="-122"/>
                <a:cs typeface="Inter Bold" pitchFamily="34" charset="-120"/>
              </a:rPr>
              <a:t>2020</a:t>
            </a:r>
            <a:endParaRPr lang="en-US" sz="1650" dirty="0"/>
          </a:p>
        </p:txBody>
      </p:sp>
      <p:sp>
        <p:nvSpPr>
          <p:cNvPr id="45" name="Text 43"/>
          <p:cNvSpPr/>
          <p:nvPr/>
        </p:nvSpPr>
        <p:spPr>
          <a:xfrm>
            <a:off x="7791807" y="5183505"/>
            <a:ext cx="5859542" cy="238125"/>
          </a:xfrm>
          <a:prstGeom prst="rect">
            <a:avLst/>
          </a:prstGeom>
          <a:noFill/>
          <a:ln/>
        </p:spPr>
        <p:txBody>
          <a:bodyPr wrap="none" lIns="0" tIns="0" rIns="0" bIns="0" rtlCol="0" anchor="t"/>
          <a:lstStyle/>
          <a:p>
            <a:pPr marL="0" indent="0" algn="l">
              <a:lnSpc>
                <a:spcPts val="1850"/>
              </a:lnSpc>
              <a:buNone/>
            </a:pPr>
            <a:r>
              <a:rPr lang="en-US" sz="1300" b="1" dirty="0">
                <a:solidFill>
                  <a:srgbClr val="272525"/>
                </a:solidFill>
                <a:latin typeface="Inter" pitchFamily="34" charset="0"/>
                <a:ea typeface="Inter" pitchFamily="34" charset="-122"/>
                <a:cs typeface="Inter" pitchFamily="34" charset="-120"/>
              </a:rPr>
              <a:t>Hombre:</a:t>
            </a:r>
            <a:r>
              <a:rPr lang="en-US" sz="1300" dirty="0">
                <a:solidFill>
                  <a:srgbClr val="272525"/>
                </a:solidFill>
                <a:latin typeface="Inter" pitchFamily="34" charset="0"/>
                <a:ea typeface="Inter" pitchFamily="34" charset="-122"/>
                <a:cs typeface="Inter" pitchFamily="34" charset="-120"/>
              </a:rPr>
              <a:t> R² = 0.273, coef = -0.0010, p-valor = 0.031</a:t>
            </a:r>
            <a:endParaRPr lang="en-US" sz="1300" dirty="0"/>
          </a:p>
        </p:txBody>
      </p:sp>
      <p:sp>
        <p:nvSpPr>
          <p:cNvPr id="46" name="Text 44"/>
          <p:cNvSpPr/>
          <p:nvPr/>
        </p:nvSpPr>
        <p:spPr>
          <a:xfrm>
            <a:off x="7791807" y="5536406"/>
            <a:ext cx="5859542" cy="238125"/>
          </a:xfrm>
          <a:prstGeom prst="rect">
            <a:avLst/>
          </a:prstGeom>
          <a:noFill/>
          <a:ln/>
        </p:spPr>
        <p:txBody>
          <a:bodyPr wrap="none" lIns="0" tIns="0" rIns="0" bIns="0" rtlCol="0" anchor="t"/>
          <a:lstStyle/>
          <a:p>
            <a:pPr marL="0" indent="0" algn="l">
              <a:lnSpc>
                <a:spcPts val="1850"/>
              </a:lnSpc>
              <a:buNone/>
            </a:pPr>
            <a:r>
              <a:rPr lang="en-US" sz="1300" b="1" dirty="0">
                <a:solidFill>
                  <a:srgbClr val="272525"/>
                </a:solidFill>
                <a:latin typeface="Inter" pitchFamily="34" charset="0"/>
                <a:ea typeface="Inter" pitchFamily="34" charset="-122"/>
                <a:cs typeface="Inter" pitchFamily="34" charset="-120"/>
              </a:rPr>
              <a:t>Mujer:</a:t>
            </a:r>
            <a:r>
              <a:rPr lang="en-US" sz="1300" dirty="0">
                <a:solidFill>
                  <a:srgbClr val="272525"/>
                </a:solidFill>
                <a:latin typeface="Inter" pitchFamily="34" charset="0"/>
                <a:ea typeface="Inter" pitchFamily="34" charset="-122"/>
                <a:cs typeface="Inter" pitchFamily="34" charset="-120"/>
              </a:rPr>
              <a:t> R² = 0.305, coef = -0.0012, p-valor = 0.021</a:t>
            </a:r>
            <a:endParaRPr lang="en-US" sz="1300" dirty="0"/>
          </a:p>
        </p:txBody>
      </p:sp>
      <p:sp>
        <p:nvSpPr>
          <p:cNvPr id="47" name="Text 45"/>
          <p:cNvSpPr/>
          <p:nvPr/>
        </p:nvSpPr>
        <p:spPr>
          <a:xfrm>
            <a:off x="793790" y="6254353"/>
            <a:ext cx="13042821" cy="476250"/>
          </a:xfrm>
          <a:prstGeom prst="rect">
            <a:avLst/>
          </a:prstGeom>
          <a:noFill/>
          <a:ln/>
        </p:spPr>
        <p:txBody>
          <a:bodyPr wrap="squar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El R² es consistente más alto en mujeres que en hombres, especialmente en 2019 (0.579 frente a 0.381), lo que sugiere que el modelo explica mejor la variación de la no emancipación femenina.</a:t>
            </a:r>
            <a:endParaRPr lang="en-US" sz="1300" dirty="0"/>
          </a:p>
        </p:txBody>
      </p:sp>
      <p:sp>
        <p:nvSpPr>
          <p:cNvPr id="48" name="Text 46"/>
          <p:cNvSpPr/>
          <p:nvPr/>
        </p:nvSpPr>
        <p:spPr>
          <a:xfrm>
            <a:off x="793790" y="6874073"/>
            <a:ext cx="13042821"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El coeficiente del salario es negativo en ambos géneros, pero su efecto es algo más fuerte en mujeres, sobre todo en 2019 y 2020.</a:t>
            </a:r>
            <a:endParaRPr lang="en-US" sz="1300" dirty="0"/>
          </a:p>
        </p:txBody>
      </p:sp>
      <p:sp>
        <p:nvSpPr>
          <p:cNvPr id="49" name="Text 47"/>
          <p:cNvSpPr/>
          <p:nvPr/>
        </p:nvSpPr>
        <p:spPr>
          <a:xfrm>
            <a:off x="793790" y="7255669"/>
            <a:ext cx="13042821"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En resumen, el salario medio anual tiene poder explicativo en ambos grupos, aunque mayor en mujeres.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891183"/>
            <a:ext cx="1649016" cy="172760"/>
          </a:xfrm>
          <a:prstGeom prst="rect">
            <a:avLst/>
          </a:prstGeom>
          <a:noFill/>
          <a:ln/>
        </p:spPr>
        <p:txBody>
          <a:bodyPr wrap="none" lIns="0" tIns="0" rIns="0" bIns="0" rtlCol="0" anchor="t"/>
          <a:lstStyle/>
          <a:p>
            <a:pPr marL="0" indent="0" algn="l">
              <a:lnSpc>
                <a:spcPts val="1350"/>
              </a:lnSpc>
              <a:buNone/>
            </a:pPr>
            <a:r>
              <a:rPr lang="en-US" sz="1000" dirty="0">
                <a:solidFill>
                  <a:srgbClr val="4950BC"/>
                </a:solidFill>
                <a:latin typeface="Inter" pitchFamily="34" charset="0"/>
                <a:ea typeface="Inter" pitchFamily="34" charset="-122"/>
                <a:cs typeface="Inter" pitchFamily="34" charset="-120"/>
              </a:rPr>
              <a:t>RESULTADOS · REGRESIÓN</a:t>
            </a:r>
            <a:endParaRPr lang="en-US" sz="1000" dirty="0"/>
          </a:p>
        </p:txBody>
      </p:sp>
      <p:sp>
        <p:nvSpPr>
          <p:cNvPr id="3" name="Text 1"/>
          <p:cNvSpPr/>
          <p:nvPr/>
        </p:nvSpPr>
        <p:spPr>
          <a:xfrm>
            <a:off x="793790" y="1155978"/>
            <a:ext cx="10344864" cy="496133"/>
          </a:xfrm>
          <a:prstGeom prst="rect">
            <a:avLst/>
          </a:prstGeom>
          <a:noFill/>
          <a:ln/>
        </p:spPr>
        <p:txBody>
          <a:bodyPr wrap="none" lIns="0" tIns="0" rIns="0" bIns="0" rtlCol="0" anchor="t"/>
          <a:lstStyle/>
          <a:p>
            <a:pPr marL="0" indent="0" algn="l">
              <a:lnSpc>
                <a:spcPts val="3900"/>
              </a:lnSpc>
              <a:buNone/>
            </a:pPr>
            <a:r>
              <a:rPr lang="en-US" sz="3100" b="1" dirty="0">
                <a:solidFill>
                  <a:srgbClr val="000000"/>
                </a:solidFill>
                <a:latin typeface="Inter Bold" pitchFamily="34" charset="0"/>
                <a:ea typeface="Inter Bold" pitchFamily="34" charset="-122"/>
                <a:cs typeface="Inter Bold" pitchFamily="34" charset="-120"/>
              </a:rPr>
              <a:t>Regresión Lineal: Modelo Conjunto (Salario + Género)</a:t>
            </a:r>
            <a:endParaRPr lang="en-US" sz="3100" dirty="0"/>
          </a:p>
        </p:txBody>
      </p:sp>
      <p:sp>
        <p:nvSpPr>
          <p:cNvPr id="4" name="Shape 2"/>
          <p:cNvSpPr/>
          <p:nvPr/>
        </p:nvSpPr>
        <p:spPr>
          <a:xfrm>
            <a:off x="793790" y="1943814"/>
            <a:ext cx="6327815" cy="2240756"/>
          </a:xfrm>
          <a:prstGeom prst="roundRect">
            <a:avLst>
              <a:gd name="adj" fmla="val 2976"/>
            </a:avLst>
          </a:prstGeom>
          <a:noFill/>
          <a:ln w="7620">
            <a:solidFill>
              <a:srgbClr val="000000">
                <a:alpha val="8000"/>
              </a:srgbClr>
            </a:solidFill>
            <a:prstDash val="solid"/>
          </a:ln>
        </p:spPr>
        <p:txBody>
          <a:bodyPr/>
          <a:lstStyle/>
          <a:p>
            <a:endParaRPr lang="es-ES"/>
          </a:p>
        </p:txBody>
      </p:sp>
      <p:sp>
        <p:nvSpPr>
          <p:cNvPr id="5" name="Text 3"/>
          <p:cNvSpPr/>
          <p:nvPr/>
        </p:nvSpPr>
        <p:spPr>
          <a:xfrm>
            <a:off x="960239" y="2025729"/>
            <a:ext cx="2834997" cy="215979"/>
          </a:xfrm>
          <a:prstGeom prst="rect">
            <a:avLst/>
          </a:prstGeom>
          <a:noFill/>
          <a:ln/>
        </p:spPr>
        <p:txBody>
          <a:bodyPr wrap="none" lIns="0" tIns="0" rIns="0" bIns="0" rtlCol="0" anchor="t"/>
          <a:lstStyle/>
          <a:p>
            <a:pPr marL="0" indent="0" algn="l">
              <a:lnSpc>
                <a:spcPts val="1700"/>
              </a:lnSpc>
              <a:buNone/>
            </a:pPr>
            <a:endParaRPr lang="en-US" sz="1250" dirty="0"/>
          </a:p>
        </p:txBody>
      </p:sp>
      <p:sp>
        <p:nvSpPr>
          <p:cNvPr id="6" name="Text 4"/>
          <p:cNvSpPr/>
          <p:nvPr/>
        </p:nvSpPr>
        <p:spPr>
          <a:xfrm>
            <a:off x="4120277" y="2025729"/>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Valor</a:t>
            </a:r>
            <a:endParaRPr lang="en-US" sz="1250" dirty="0"/>
          </a:p>
        </p:txBody>
      </p:sp>
      <p:sp>
        <p:nvSpPr>
          <p:cNvPr id="7" name="Text 5"/>
          <p:cNvSpPr/>
          <p:nvPr/>
        </p:nvSpPr>
        <p:spPr>
          <a:xfrm>
            <a:off x="960239" y="2397919"/>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R²</a:t>
            </a:r>
            <a:endParaRPr lang="en-US" sz="1250" dirty="0"/>
          </a:p>
        </p:txBody>
      </p:sp>
      <p:sp>
        <p:nvSpPr>
          <p:cNvPr id="8" name="Text 6"/>
          <p:cNvSpPr/>
          <p:nvPr/>
        </p:nvSpPr>
        <p:spPr>
          <a:xfrm>
            <a:off x="4120277" y="2397919"/>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0.752</a:t>
            </a:r>
            <a:endParaRPr lang="en-US" sz="1250" dirty="0"/>
          </a:p>
        </p:txBody>
      </p:sp>
      <p:sp>
        <p:nvSpPr>
          <p:cNvPr id="9" name="Text 7"/>
          <p:cNvSpPr/>
          <p:nvPr/>
        </p:nvSpPr>
        <p:spPr>
          <a:xfrm>
            <a:off x="960239" y="2770108"/>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Adj. R²</a:t>
            </a:r>
            <a:endParaRPr lang="en-US" sz="1250" dirty="0"/>
          </a:p>
        </p:txBody>
      </p:sp>
      <p:sp>
        <p:nvSpPr>
          <p:cNvPr id="10" name="Text 8"/>
          <p:cNvSpPr/>
          <p:nvPr/>
        </p:nvSpPr>
        <p:spPr>
          <a:xfrm>
            <a:off x="4120277" y="2770108"/>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0.747</a:t>
            </a:r>
            <a:endParaRPr lang="en-US" sz="1250" dirty="0"/>
          </a:p>
        </p:txBody>
      </p:sp>
      <p:sp>
        <p:nvSpPr>
          <p:cNvPr id="11" name="Text 9"/>
          <p:cNvSpPr/>
          <p:nvPr/>
        </p:nvSpPr>
        <p:spPr>
          <a:xfrm>
            <a:off x="960239" y="3142298"/>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F-statistic</a:t>
            </a:r>
            <a:endParaRPr lang="en-US" sz="1250" dirty="0"/>
          </a:p>
        </p:txBody>
      </p:sp>
      <p:sp>
        <p:nvSpPr>
          <p:cNvPr id="12" name="Text 10"/>
          <p:cNvSpPr/>
          <p:nvPr/>
        </p:nvSpPr>
        <p:spPr>
          <a:xfrm>
            <a:off x="4120277" y="3142298"/>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149.8</a:t>
            </a:r>
            <a:endParaRPr lang="en-US" sz="1250" dirty="0"/>
          </a:p>
        </p:txBody>
      </p:sp>
      <p:sp>
        <p:nvSpPr>
          <p:cNvPr id="13" name="Text 11"/>
          <p:cNvSpPr/>
          <p:nvPr/>
        </p:nvSpPr>
        <p:spPr>
          <a:xfrm>
            <a:off x="960239" y="3514487"/>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Prob (F-statistic)</a:t>
            </a:r>
            <a:endParaRPr lang="en-US" sz="1250" dirty="0"/>
          </a:p>
        </p:txBody>
      </p:sp>
      <p:sp>
        <p:nvSpPr>
          <p:cNvPr id="14" name="Text 12"/>
          <p:cNvSpPr/>
          <p:nvPr/>
        </p:nvSpPr>
        <p:spPr>
          <a:xfrm>
            <a:off x="4120277" y="3514487"/>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1.14e-30</a:t>
            </a:r>
            <a:endParaRPr lang="en-US" sz="1250" dirty="0"/>
          </a:p>
        </p:txBody>
      </p:sp>
      <p:sp>
        <p:nvSpPr>
          <p:cNvPr id="15" name="Text 13"/>
          <p:cNvSpPr/>
          <p:nvPr/>
        </p:nvSpPr>
        <p:spPr>
          <a:xfrm>
            <a:off x="960239" y="3886676"/>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Observaciones</a:t>
            </a:r>
            <a:endParaRPr lang="en-US" sz="1250" dirty="0"/>
          </a:p>
        </p:txBody>
      </p:sp>
      <p:sp>
        <p:nvSpPr>
          <p:cNvPr id="16" name="Text 14"/>
          <p:cNvSpPr/>
          <p:nvPr/>
        </p:nvSpPr>
        <p:spPr>
          <a:xfrm>
            <a:off x="4120277" y="3886676"/>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102</a:t>
            </a:r>
            <a:endParaRPr lang="en-US" sz="1250" dirty="0"/>
          </a:p>
        </p:txBody>
      </p:sp>
      <p:sp>
        <p:nvSpPr>
          <p:cNvPr id="17" name="Shape 15"/>
          <p:cNvSpPr/>
          <p:nvPr/>
        </p:nvSpPr>
        <p:spPr>
          <a:xfrm>
            <a:off x="793790" y="4309586"/>
            <a:ext cx="6327815" cy="1496378"/>
          </a:xfrm>
          <a:prstGeom prst="roundRect">
            <a:avLst>
              <a:gd name="adj" fmla="val 4457"/>
            </a:avLst>
          </a:prstGeom>
          <a:noFill/>
          <a:ln w="7620">
            <a:solidFill>
              <a:srgbClr val="000000">
                <a:alpha val="8000"/>
              </a:srgbClr>
            </a:solidFill>
            <a:prstDash val="solid"/>
          </a:ln>
        </p:spPr>
        <p:txBody>
          <a:bodyPr/>
          <a:lstStyle/>
          <a:p>
            <a:endParaRPr lang="es-ES"/>
          </a:p>
        </p:txBody>
      </p:sp>
      <p:sp>
        <p:nvSpPr>
          <p:cNvPr id="18" name="Text 16"/>
          <p:cNvSpPr/>
          <p:nvPr/>
        </p:nvSpPr>
        <p:spPr>
          <a:xfrm>
            <a:off x="960834" y="4391501"/>
            <a:ext cx="1782485" cy="215979"/>
          </a:xfrm>
          <a:prstGeom prst="rect">
            <a:avLst/>
          </a:prstGeom>
          <a:noFill/>
          <a:ln/>
        </p:spPr>
        <p:txBody>
          <a:bodyPr wrap="none" lIns="0" tIns="0" rIns="0" bIns="0" rtlCol="0" anchor="t"/>
          <a:lstStyle/>
          <a:p>
            <a:pPr marL="0" indent="0" algn="l">
              <a:lnSpc>
                <a:spcPts val="1700"/>
              </a:lnSpc>
              <a:buNone/>
            </a:pPr>
            <a:endParaRPr lang="en-US" sz="1250" dirty="0"/>
          </a:p>
        </p:txBody>
      </p:sp>
      <p:sp>
        <p:nvSpPr>
          <p:cNvPr id="19" name="Text 17"/>
          <p:cNvSpPr/>
          <p:nvPr/>
        </p:nvSpPr>
        <p:spPr>
          <a:xfrm>
            <a:off x="3068360" y="4391501"/>
            <a:ext cx="177867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Coeficiente</a:t>
            </a:r>
            <a:endParaRPr lang="en-US" sz="1250" dirty="0"/>
          </a:p>
        </p:txBody>
      </p:sp>
      <p:sp>
        <p:nvSpPr>
          <p:cNvPr id="20" name="Text 18"/>
          <p:cNvSpPr/>
          <p:nvPr/>
        </p:nvSpPr>
        <p:spPr>
          <a:xfrm>
            <a:off x="5172075" y="4391501"/>
            <a:ext cx="178248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p-valor</a:t>
            </a:r>
            <a:endParaRPr lang="en-US" sz="1250" dirty="0"/>
          </a:p>
        </p:txBody>
      </p:sp>
      <p:sp>
        <p:nvSpPr>
          <p:cNvPr id="21" name="Text 19"/>
          <p:cNvSpPr/>
          <p:nvPr/>
        </p:nvSpPr>
        <p:spPr>
          <a:xfrm>
            <a:off x="960834" y="4763691"/>
            <a:ext cx="178248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Constante</a:t>
            </a:r>
            <a:endParaRPr lang="en-US" sz="1250" dirty="0"/>
          </a:p>
        </p:txBody>
      </p:sp>
      <p:sp>
        <p:nvSpPr>
          <p:cNvPr id="22" name="Text 20"/>
          <p:cNvSpPr/>
          <p:nvPr/>
        </p:nvSpPr>
        <p:spPr>
          <a:xfrm>
            <a:off x="3068360" y="4763691"/>
            <a:ext cx="177867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73.5183</a:t>
            </a:r>
            <a:endParaRPr lang="en-US" sz="1250" dirty="0"/>
          </a:p>
        </p:txBody>
      </p:sp>
      <p:sp>
        <p:nvSpPr>
          <p:cNvPr id="23" name="Text 21"/>
          <p:cNvSpPr/>
          <p:nvPr/>
        </p:nvSpPr>
        <p:spPr>
          <a:xfrm>
            <a:off x="5172075" y="4763691"/>
            <a:ext cx="178248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0.000</a:t>
            </a:r>
            <a:endParaRPr lang="en-US" sz="1250" dirty="0"/>
          </a:p>
        </p:txBody>
      </p:sp>
      <p:sp>
        <p:nvSpPr>
          <p:cNvPr id="24" name="Text 22"/>
          <p:cNvSpPr/>
          <p:nvPr/>
        </p:nvSpPr>
        <p:spPr>
          <a:xfrm>
            <a:off x="960834" y="5135880"/>
            <a:ext cx="178248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Salario medio anual</a:t>
            </a:r>
            <a:endParaRPr lang="en-US" sz="1250" dirty="0"/>
          </a:p>
        </p:txBody>
      </p:sp>
      <p:sp>
        <p:nvSpPr>
          <p:cNvPr id="25" name="Text 23"/>
          <p:cNvSpPr/>
          <p:nvPr/>
        </p:nvSpPr>
        <p:spPr>
          <a:xfrm>
            <a:off x="3068360" y="5135880"/>
            <a:ext cx="177867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-0.0013</a:t>
            </a:r>
            <a:endParaRPr lang="en-US" sz="1250" dirty="0"/>
          </a:p>
        </p:txBody>
      </p:sp>
      <p:sp>
        <p:nvSpPr>
          <p:cNvPr id="26" name="Text 24"/>
          <p:cNvSpPr/>
          <p:nvPr/>
        </p:nvSpPr>
        <p:spPr>
          <a:xfrm>
            <a:off x="5172075" y="5135880"/>
            <a:ext cx="178248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0.000</a:t>
            </a:r>
            <a:endParaRPr lang="en-US" sz="1250" dirty="0"/>
          </a:p>
        </p:txBody>
      </p:sp>
      <p:sp>
        <p:nvSpPr>
          <p:cNvPr id="27" name="Text 25"/>
          <p:cNvSpPr/>
          <p:nvPr/>
        </p:nvSpPr>
        <p:spPr>
          <a:xfrm>
            <a:off x="960834" y="5508069"/>
            <a:ext cx="178248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Género (dummy)</a:t>
            </a:r>
            <a:endParaRPr lang="en-US" sz="1250" dirty="0"/>
          </a:p>
        </p:txBody>
      </p:sp>
      <p:sp>
        <p:nvSpPr>
          <p:cNvPr id="28" name="Text 26"/>
          <p:cNvSpPr/>
          <p:nvPr/>
        </p:nvSpPr>
        <p:spPr>
          <a:xfrm>
            <a:off x="3068360" y="5508069"/>
            <a:ext cx="177867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-18.0805</a:t>
            </a:r>
            <a:endParaRPr lang="en-US" sz="1250" dirty="0"/>
          </a:p>
        </p:txBody>
      </p:sp>
      <p:sp>
        <p:nvSpPr>
          <p:cNvPr id="29" name="Text 27"/>
          <p:cNvSpPr/>
          <p:nvPr/>
        </p:nvSpPr>
        <p:spPr>
          <a:xfrm>
            <a:off x="5172075" y="5508069"/>
            <a:ext cx="178248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0.000</a:t>
            </a:r>
            <a:endParaRPr lang="en-US" sz="1250" dirty="0"/>
          </a:p>
        </p:txBody>
      </p:sp>
      <p:sp>
        <p:nvSpPr>
          <p:cNvPr id="30" name="Shape 28"/>
          <p:cNvSpPr/>
          <p:nvPr/>
        </p:nvSpPr>
        <p:spPr>
          <a:xfrm>
            <a:off x="7516416" y="1943814"/>
            <a:ext cx="6327815" cy="1154192"/>
          </a:xfrm>
          <a:prstGeom prst="roundRect">
            <a:avLst>
              <a:gd name="adj" fmla="val 9507"/>
            </a:avLst>
          </a:prstGeom>
          <a:solidFill>
            <a:srgbClr val="FFFFFF"/>
          </a:solidFill>
          <a:ln w="22860">
            <a:solidFill>
              <a:srgbClr val="C0C1D7"/>
            </a:solidFill>
            <a:prstDash val="solid"/>
          </a:ln>
        </p:spPr>
        <p:txBody>
          <a:bodyPr/>
          <a:lstStyle/>
          <a:p>
            <a:endParaRPr lang="es-ES"/>
          </a:p>
        </p:txBody>
      </p:sp>
      <p:sp>
        <p:nvSpPr>
          <p:cNvPr id="31" name="Shape 29"/>
          <p:cNvSpPr/>
          <p:nvPr/>
        </p:nvSpPr>
        <p:spPr>
          <a:xfrm>
            <a:off x="7493556" y="1943814"/>
            <a:ext cx="91440" cy="1154192"/>
          </a:xfrm>
          <a:prstGeom prst="roundRect">
            <a:avLst>
              <a:gd name="adj" fmla="val 72930"/>
            </a:avLst>
          </a:prstGeom>
          <a:solidFill>
            <a:srgbClr val="4950BC"/>
          </a:solidFill>
          <a:ln/>
        </p:spPr>
        <p:txBody>
          <a:bodyPr/>
          <a:lstStyle/>
          <a:p>
            <a:endParaRPr lang="es-ES"/>
          </a:p>
        </p:txBody>
      </p:sp>
      <p:sp>
        <p:nvSpPr>
          <p:cNvPr id="32" name="Text 30"/>
          <p:cNvSpPr/>
          <p:nvPr/>
        </p:nvSpPr>
        <p:spPr>
          <a:xfrm>
            <a:off x="7766566" y="2125385"/>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272525"/>
                </a:solidFill>
                <a:latin typeface="Inter Bold" pitchFamily="34" charset="0"/>
                <a:ea typeface="Inter Bold" pitchFamily="34" charset="-122"/>
                <a:cs typeface="Inter Bold" pitchFamily="34" charset="-120"/>
              </a:rPr>
              <a:t>R² = 0.752</a:t>
            </a:r>
            <a:endParaRPr lang="en-US" sz="1550" dirty="0"/>
          </a:p>
        </p:txBody>
      </p:sp>
      <p:sp>
        <p:nvSpPr>
          <p:cNvPr id="33" name="Text 31"/>
          <p:cNvSpPr/>
          <p:nvPr/>
        </p:nvSpPr>
        <p:spPr>
          <a:xfrm>
            <a:off x="7766566" y="2484477"/>
            <a:ext cx="5896094" cy="431959"/>
          </a:xfrm>
          <a:prstGeom prst="rect">
            <a:avLst/>
          </a:prstGeom>
          <a:noFill/>
          <a:ln/>
        </p:spPr>
        <p:txBody>
          <a:bodyPr wrap="squar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El modelo explica el 75.2% de la variación, un salto importante respecto a modelos anteriores.</a:t>
            </a:r>
            <a:endParaRPr lang="en-US" sz="1250" dirty="0"/>
          </a:p>
        </p:txBody>
      </p:sp>
      <p:sp>
        <p:nvSpPr>
          <p:cNvPr id="34" name="Shape 32"/>
          <p:cNvSpPr/>
          <p:nvPr/>
        </p:nvSpPr>
        <p:spPr>
          <a:xfrm>
            <a:off x="7516416" y="3209092"/>
            <a:ext cx="6327815" cy="938213"/>
          </a:xfrm>
          <a:prstGeom prst="roundRect">
            <a:avLst>
              <a:gd name="adj" fmla="val 11695"/>
            </a:avLst>
          </a:prstGeom>
          <a:solidFill>
            <a:srgbClr val="FFFFFF"/>
          </a:solidFill>
          <a:ln w="22860">
            <a:solidFill>
              <a:srgbClr val="C0C1D7"/>
            </a:solidFill>
            <a:prstDash val="solid"/>
          </a:ln>
        </p:spPr>
        <p:txBody>
          <a:bodyPr/>
          <a:lstStyle/>
          <a:p>
            <a:endParaRPr lang="es-ES"/>
          </a:p>
        </p:txBody>
      </p:sp>
      <p:sp>
        <p:nvSpPr>
          <p:cNvPr id="35" name="Shape 33"/>
          <p:cNvSpPr/>
          <p:nvPr/>
        </p:nvSpPr>
        <p:spPr>
          <a:xfrm>
            <a:off x="7493556" y="3209092"/>
            <a:ext cx="91440" cy="938213"/>
          </a:xfrm>
          <a:prstGeom prst="roundRect">
            <a:avLst>
              <a:gd name="adj" fmla="val 72930"/>
            </a:avLst>
          </a:prstGeom>
          <a:solidFill>
            <a:srgbClr val="4950BC"/>
          </a:solidFill>
          <a:ln/>
        </p:spPr>
        <p:txBody>
          <a:bodyPr/>
          <a:lstStyle/>
          <a:p>
            <a:endParaRPr lang="es-ES"/>
          </a:p>
        </p:txBody>
      </p:sp>
      <p:sp>
        <p:nvSpPr>
          <p:cNvPr id="36" name="Text 34"/>
          <p:cNvSpPr/>
          <p:nvPr/>
        </p:nvSpPr>
        <p:spPr>
          <a:xfrm>
            <a:off x="7766566" y="3390662"/>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272525"/>
                </a:solidFill>
                <a:latin typeface="Inter Bold" pitchFamily="34" charset="0"/>
                <a:ea typeface="Inter Bold" pitchFamily="34" charset="-122"/>
                <a:cs typeface="Inter Bold" pitchFamily="34" charset="-120"/>
              </a:rPr>
              <a:t>Efecto del salario</a:t>
            </a:r>
            <a:endParaRPr lang="en-US" sz="1550" dirty="0"/>
          </a:p>
        </p:txBody>
      </p:sp>
      <p:sp>
        <p:nvSpPr>
          <p:cNvPr id="37" name="Text 35"/>
          <p:cNvSpPr/>
          <p:nvPr/>
        </p:nvSpPr>
        <p:spPr>
          <a:xfrm>
            <a:off x="7766566" y="3749754"/>
            <a:ext cx="5896094"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-0.0013 significa que +1000€ ≈ -1.3% no emancipación.</a:t>
            </a:r>
            <a:endParaRPr lang="en-US" sz="1250" dirty="0"/>
          </a:p>
        </p:txBody>
      </p:sp>
      <p:sp>
        <p:nvSpPr>
          <p:cNvPr id="38" name="Shape 36"/>
          <p:cNvSpPr/>
          <p:nvPr/>
        </p:nvSpPr>
        <p:spPr>
          <a:xfrm>
            <a:off x="7516416" y="4258389"/>
            <a:ext cx="6327815" cy="1154192"/>
          </a:xfrm>
          <a:prstGeom prst="roundRect">
            <a:avLst>
              <a:gd name="adj" fmla="val 9507"/>
            </a:avLst>
          </a:prstGeom>
          <a:solidFill>
            <a:srgbClr val="FFFFFF"/>
          </a:solidFill>
          <a:ln w="22860">
            <a:solidFill>
              <a:srgbClr val="C0C1D7"/>
            </a:solidFill>
            <a:prstDash val="solid"/>
          </a:ln>
        </p:spPr>
        <p:txBody>
          <a:bodyPr/>
          <a:lstStyle/>
          <a:p>
            <a:endParaRPr lang="es-ES"/>
          </a:p>
        </p:txBody>
      </p:sp>
      <p:sp>
        <p:nvSpPr>
          <p:cNvPr id="39" name="Shape 37"/>
          <p:cNvSpPr/>
          <p:nvPr/>
        </p:nvSpPr>
        <p:spPr>
          <a:xfrm>
            <a:off x="7493556" y="4258389"/>
            <a:ext cx="91440" cy="1154192"/>
          </a:xfrm>
          <a:prstGeom prst="roundRect">
            <a:avLst>
              <a:gd name="adj" fmla="val 72930"/>
            </a:avLst>
          </a:prstGeom>
          <a:solidFill>
            <a:srgbClr val="4950BC"/>
          </a:solidFill>
          <a:ln/>
        </p:spPr>
        <p:txBody>
          <a:bodyPr/>
          <a:lstStyle/>
          <a:p>
            <a:endParaRPr lang="es-ES"/>
          </a:p>
        </p:txBody>
      </p:sp>
      <p:sp>
        <p:nvSpPr>
          <p:cNvPr id="40" name="Text 38"/>
          <p:cNvSpPr/>
          <p:nvPr/>
        </p:nvSpPr>
        <p:spPr>
          <a:xfrm>
            <a:off x="7766566" y="4439960"/>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272525"/>
                </a:solidFill>
                <a:latin typeface="Inter Bold" pitchFamily="34" charset="0"/>
                <a:ea typeface="Inter Bold" pitchFamily="34" charset="-122"/>
                <a:cs typeface="Inter Bold" pitchFamily="34" charset="-120"/>
              </a:rPr>
              <a:t>Efecto del género</a:t>
            </a:r>
            <a:endParaRPr lang="en-US" sz="1550" dirty="0"/>
          </a:p>
        </p:txBody>
      </p:sp>
      <p:sp>
        <p:nvSpPr>
          <p:cNvPr id="41" name="Text 39"/>
          <p:cNvSpPr/>
          <p:nvPr/>
        </p:nvSpPr>
        <p:spPr>
          <a:xfrm>
            <a:off x="7766566" y="4799052"/>
            <a:ext cx="5896094" cy="431959"/>
          </a:xfrm>
          <a:prstGeom prst="rect">
            <a:avLst/>
          </a:prstGeom>
          <a:noFill/>
          <a:ln/>
        </p:spPr>
        <p:txBody>
          <a:bodyPr wrap="squar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-18.08 puntos porcentuales menos de no emancipación en mujeres vs hombres.</a:t>
            </a:r>
            <a:endParaRPr lang="en-US" sz="1250" dirty="0"/>
          </a:p>
        </p:txBody>
      </p:sp>
      <p:sp>
        <p:nvSpPr>
          <p:cNvPr id="42" name="Text 40"/>
          <p:cNvSpPr/>
          <p:nvPr/>
        </p:nvSpPr>
        <p:spPr>
          <a:xfrm>
            <a:off x="793790" y="6055995"/>
            <a:ext cx="13042821"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Al introducir el género como variable dummy (0 = hombre, 1 = mujer), la capacidad explicativa del modelo aumenta significativamente a 0.752.</a:t>
            </a:r>
            <a:endParaRPr lang="en-US" sz="1250" dirty="0"/>
          </a:p>
        </p:txBody>
      </p:sp>
      <p:sp>
        <p:nvSpPr>
          <p:cNvPr id="43" name="Text 41"/>
          <p:cNvSpPr/>
          <p:nvPr/>
        </p:nvSpPr>
        <p:spPr>
          <a:xfrm>
            <a:off x="793790" y="6396990"/>
            <a:ext cx="13042821" cy="431959"/>
          </a:xfrm>
          <a:prstGeom prst="rect">
            <a:avLst/>
          </a:prstGeom>
          <a:noFill/>
          <a:ln/>
        </p:spPr>
        <p:txBody>
          <a:bodyPr wrap="squar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El coeficiente del género (-18.08) es altamente significativo e indica que las mujeres tienen 18 puntos porcentuales menos de no emancipación que los hombres, manteniendo constante el salario. Este efecto es mucho mayor que el del salario en términos absolutos.</a:t>
            </a:r>
            <a:endParaRPr lang="en-US" sz="1250" dirty="0"/>
          </a:p>
        </p:txBody>
      </p:sp>
      <p:sp>
        <p:nvSpPr>
          <p:cNvPr id="44" name="Text 42"/>
          <p:cNvSpPr/>
          <p:nvPr/>
        </p:nvSpPr>
        <p:spPr>
          <a:xfrm>
            <a:off x="793790" y="6953964"/>
            <a:ext cx="13042821" cy="431959"/>
          </a:xfrm>
          <a:prstGeom prst="rect">
            <a:avLst/>
          </a:prstGeom>
          <a:noFill/>
          <a:ln/>
        </p:spPr>
        <p:txBody>
          <a:bodyPr wrap="squar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El salario sigue siendo un factor relevante (-0.0013), pero el género introduce una diferencia estructural muy marcada, sugiriendo que la emancipación depende tanto de factores económicos como sociales y de género.</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921663"/>
            <a:ext cx="11580138" cy="496133"/>
          </a:xfrm>
          <a:prstGeom prst="rect">
            <a:avLst/>
          </a:prstGeom>
          <a:noFill/>
          <a:ln/>
        </p:spPr>
        <p:txBody>
          <a:bodyPr wrap="none" lIns="0" tIns="0" rIns="0" bIns="0" rtlCol="0" anchor="t"/>
          <a:lstStyle/>
          <a:p>
            <a:pPr marL="0" indent="0" algn="l">
              <a:lnSpc>
                <a:spcPts val="3900"/>
              </a:lnSpc>
              <a:buNone/>
            </a:pPr>
            <a:r>
              <a:rPr lang="en-US" sz="3100" b="1" dirty="0">
                <a:solidFill>
                  <a:srgbClr val="000000"/>
                </a:solidFill>
                <a:latin typeface="Inter Bold" pitchFamily="34" charset="0"/>
                <a:ea typeface="Inter Bold" pitchFamily="34" charset="-122"/>
                <a:cs typeface="Inter Bold" pitchFamily="34" charset="-120"/>
              </a:rPr>
              <a:t>Regresión Lineal: Modelo con Interacción (Salario × Género)</a:t>
            </a:r>
            <a:endParaRPr lang="en-US" sz="3100" dirty="0"/>
          </a:p>
        </p:txBody>
      </p:sp>
      <p:sp>
        <p:nvSpPr>
          <p:cNvPr id="3" name="Shape 1"/>
          <p:cNvSpPr/>
          <p:nvPr/>
        </p:nvSpPr>
        <p:spPr>
          <a:xfrm>
            <a:off x="793790" y="1709499"/>
            <a:ext cx="6327815" cy="2240756"/>
          </a:xfrm>
          <a:prstGeom prst="roundRect">
            <a:avLst>
              <a:gd name="adj" fmla="val 2976"/>
            </a:avLst>
          </a:prstGeom>
          <a:noFill/>
          <a:ln w="7620">
            <a:solidFill>
              <a:srgbClr val="000000">
                <a:alpha val="8000"/>
              </a:srgbClr>
            </a:solidFill>
            <a:prstDash val="solid"/>
          </a:ln>
        </p:spPr>
        <p:txBody>
          <a:bodyPr/>
          <a:lstStyle/>
          <a:p>
            <a:endParaRPr lang="es-ES"/>
          </a:p>
        </p:txBody>
      </p:sp>
      <p:sp>
        <p:nvSpPr>
          <p:cNvPr id="4" name="Text 2"/>
          <p:cNvSpPr/>
          <p:nvPr/>
        </p:nvSpPr>
        <p:spPr>
          <a:xfrm>
            <a:off x="960239" y="1791414"/>
            <a:ext cx="2834997" cy="215979"/>
          </a:xfrm>
          <a:prstGeom prst="rect">
            <a:avLst/>
          </a:prstGeom>
          <a:noFill/>
          <a:ln/>
        </p:spPr>
        <p:txBody>
          <a:bodyPr wrap="none" lIns="0" tIns="0" rIns="0" bIns="0" rtlCol="0" anchor="t"/>
          <a:lstStyle/>
          <a:p>
            <a:pPr marL="0" indent="0" algn="l">
              <a:lnSpc>
                <a:spcPts val="1700"/>
              </a:lnSpc>
              <a:buNone/>
            </a:pPr>
            <a:endParaRPr lang="en-US" sz="1250" dirty="0"/>
          </a:p>
        </p:txBody>
      </p:sp>
      <p:sp>
        <p:nvSpPr>
          <p:cNvPr id="5" name="Text 3"/>
          <p:cNvSpPr/>
          <p:nvPr/>
        </p:nvSpPr>
        <p:spPr>
          <a:xfrm>
            <a:off x="4120277" y="1791414"/>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Valor</a:t>
            </a:r>
            <a:endParaRPr lang="en-US" sz="1250" dirty="0"/>
          </a:p>
        </p:txBody>
      </p:sp>
      <p:sp>
        <p:nvSpPr>
          <p:cNvPr id="6" name="Text 4"/>
          <p:cNvSpPr/>
          <p:nvPr/>
        </p:nvSpPr>
        <p:spPr>
          <a:xfrm>
            <a:off x="960239" y="2163604"/>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R²</a:t>
            </a:r>
            <a:endParaRPr lang="en-US" sz="1250" dirty="0"/>
          </a:p>
        </p:txBody>
      </p:sp>
      <p:sp>
        <p:nvSpPr>
          <p:cNvPr id="7" name="Text 5"/>
          <p:cNvSpPr/>
          <p:nvPr/>
        </p:nvSpPr>
        <p:spPr>
          <a:xfrm>
            <a:off x="4120277" y="2163604"/>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0.753</a:t>
            </a:r>
            <a:endParaRPr lang="en-US" sz="1250" dirty="0"/>
          </a:p>
        </p:txBody>
      </p:sp>
      <p:sp>
        <p:nvSpPr>
          <p:cNvPr id="8" name="Text 6"/>
          <p:cNvSpPr/>
          <p:nvPr/>
        </p:nvSpPr>
        <p:spPr>
          <a:xfrm>
            <a:off x="960239" y="2535793"/>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Adj. R²</a:t>
            </a:r>
            <a:endParaRPr lang="en-US" sz="1250" dirty="0"/>
          </a:p>
        </p:txBody>
      </p:sp>
      <p:sp>
        <p:nvSpPr>
          <p:cNvPr id="9" name="Text 7"/>
          <p:cNvSpPr/>
          <p:nvPr/>
        </p:nvSpPr>
        <p:spPr>
          <a:xfrm>
            <a:off x="4120277" y="2535793"/>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0.745</a:t>
            </a:r>
            <a:endParaRPr lang="en-US" sz="1250" dirty="0"/>
          </a:p>
        </p:txBody>
      </p:sp>
      <p:sp>
        <p:nvSpPr>
          <p:cNvPr id="10" name="Text 8"/>
          <p:cNvSpPr/>
          <p:nvPr/>
        </p:nvSpPr>
        <p:spPr>
          <a:xfrm>
            <a:off x="960239" y="2907983"/>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F-statistic</a:t>
            </a:r>
            <a:endParaRPr lang="en-US" sz="1250" dirty="0"/>
          </a:p>
        </p:txBody>
      </p:sp>
      <p:sp>
        <p:nvSpPr>
          <p:cNvPr id="11" name="Text 9"/>
          <p:cNvSpPr/>
          <p:nvPr/>
        </p:nvSpPr>
        <p:spPr>
          <a:xfrm>
            <a:off x="4120277" y="2907983"/>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99.44</a:t>
            </a:r>
            <a:endParaRPr lang="en-US" sz="1250" dirty="0"/>
          </a:p>
        </p:txBody>
      </p:sp>
      <p:sp>
        <p:nvSpPr>
          <p:cNvPr id="12" name="Text 10"/>
          <p:cNvSpPr/>
          <p:nvPr/>
        </p:nvSpPr>
        <p:spPr>
          <a:xfrm>
            <a:off x="960239" y="3280172"/>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Prob (F-statistic)</a:t>
            </a:r>
            <a:endParaRPr lang="en-US" sz="1250" dirty="0"/>
          </a:p>
        </p:txBody>
      </p:sp>
      <p:sp>
        <p:nvSpPr>
          <p:cNvPr id="13" name="Text 11"/>
          <p:cNvSpPr/>
          <p:nvPr/>
        </p:nvSpPr>
        <p:spPr>
          <a:xfrm>
            <a:off x="4120277" y="3280172"/>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1.28e-29</a:t>
            </a:r>
            <a:endParaRPr lang="en-US" sz="1250" dirty="0"/>
          </a:p>
        </p:txBody>
      </p:sp>
      <p:sp>
        <p:nvSpPr>
          <p:cNvPr id="14" name="Text 12"/>
          <p:cNvSpPr/>
          <p:nvPr/>
        </p:nvSpPr>
        <p:spPr>
          <a:xfrm>
            <a:off x="960239" y="3652361"/>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Observaciones</a:t>
            </a:r>
            <a:endParaRPr lang="en-US" sz="1250" dirty="0"/>
          </a:p>
        </p:txBody>
      </p:sp>
      <p:sp>
        <p:nvSpPr>
          <p:cNvPr id="15" name="Text 13"/>
          <p:cNvSpPr/>
          <p:nvPr/>
        </p:nvSpPr>
        <p:spPr>
          <a:xfrm>
            <a:off x="4120277" y="3652361"/>
            <a:ext cx="2834997"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102</a:t>
            </a:r>
            <a:endParaRPr lang="en-US" sz="1250" dirty="0"/>
          </a:p>
        </p:txBody>
      </p:sp>
      <p:sp>
        <p:nvSpPr>
          <p:cNvPr id="16" name="Shape 14"/>
          <p:cNvSpPr/>
          <p:nvPr/>
        </p:nvSpPr>
        <p:spPr>
          <a:xfrm>
            <a:off x="793790" y="4075271"/>
            <a:ext cx="6327815" cy="1868567"/>
          </a:xfrm>
          <a:prstGeom prst="roundRect">
            <a:avLst>
              <a:gd name="adj" fmla="val 3569"/>
            </a:avLst>
          </a:prstGeom>
          <a:noFill/>
          <a:ln w="7620">
            <a:solidFill>
              <a:srgbClr val="000000">
                <a:alpha val="8000"/>
              </a:srgbClr>
            </a:solidFill>
            <a:prstDash val="solid"/>
          </a:ln>
        </p:spPr>
        <p:txBody>
          <a:bodyPr/>
          <a:lstStyle/>
          <a:p>
            <a:endParaRPr lang="es-ES"/>
          </a:p>
        </p:txBody>
      </p:sp>
      <p:sp>
        <p:nvSpPr>
          <p:cNvPr id="17" name="Text 15"/>
          <p:cNvSpPr/>
          <p:nvPr/>
        </p:nvSpPr>
        <p:spPr>
          <a:xfrm>
            <a:off x="960834" y="4157186"/>
            <a:ext cx="1782485" cy="215979"/>
          </a:xfrm>
          <a:prstGeom prst="rect">
            <a:avLst/>
          </a:prstGeom>
          <a:noFill/>
          <a:ln/>
        </p:spPr>
        <p:txBody>
          <a:bodyPr wrap="none" lIns="0" tIns="0" rIns="0" bIns="0" rtlCol="0" anchor="t"/>
          <a:lstStyle/>
          <a:p>
            <a:pPr marL="0" indent="0" algn="l">
              <a:lnSpc>
                <a:spcPts val="1700"/>
              </a:lnSpc>
              <a:buNone/>
            </a:pPr>
            <a:endParaRPr lang="en-US" sz="1250" dirty="0"/>
          </a:p>
        </p:txBody>
      </p:sp>
      <p:sp>
        <p:nvSpPr>
          <p:cNvPr id="18" name="Text 16"/>
          <p:cNvSpPr/>
          <p:nvPr/>
        </p:nvSpPr>
        <p:spPr>
          <a:xfrm>
            <a:off x="3068360" y="4157186"/>
            <a:ext cx="177867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Coeficiente</a:t>
            </a:r>
            <a:endParaRPr lang="en-US" sz="1250" dirty="0"/>
          </a:p>
        </p:txBody>
      </p:sp>
      <p:sp>
        <p:nvSpPr>
          <p:cNvPr id="19" name="Text 17"/>
          <p:cNvSpPr/>
          <p:nvPr/>
        </p:nvSpPr>
        <p:spPr>
          <a:xfrm>
            <a:off x="5172075" y="4157186"/>
            <a:ext cx="178248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p-valor</a:t>
            </a:r>
            <a:endParaRPr lang="en-US" sz="1250" dirty="0"/>
          </a:p>
        </p:txBody>
      </p:sp>
      <p:sp>
        <p:nvSpPr>
          <p:cNvPr id="20" name="Text 18"/>
          <p:cNvSpPr/>
          <p:nvPr/>
        </p:nvSpPr>
        <p:spPr>
          <a:xfrm>
            <a:off x="960834" y="4529376"/>
            <a:ext cx="178248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Constante</a:t>
            </a:r>
            <a:endParaRPr lang="en-US" sz="1250" dirty="0"/>
          </a:p>
        </p:txBody>
      </p:sp>
      <p:sp>
        <p:nvSpPr>
          <p:cNvPr id="21" name="Text 19"/>
          <p:cNvSpPr/>
          <p:nvPr/>
        </p:nvSpPr>
        <p:spPr>
          <a:xfrm>
            <a:off x="3068360" y="4529376"/>
            <a:ext cx="177867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71.2183</a:t>
            </a:r>
            <a:endParaRPr lang="en-US" sz="1250" dirty="0"/>
          </a:p>
        </p:txBody>
      </p:sp>
      <p:sp>
        <p:nvSpPr>
          <p:cNvPr id="22" name="Text 20"/>
          <p:cNvSpPr/>
          <p:nvPr/>
        </p:nvSpPr>
        <p:spPr>
          <a:xfrm>
            <a:off x="5172075" y="4529376"/>
            <a:ext cx="178248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0.000</a:t>
            </a:r>
            <a:endParaRPr lang="en-US" sz="1250" dirty="0"/>
          </a:p>
        </p:txBody>
      </p:sp>
      <p:sp>
        <p:nvSpPr>
          <p:cNvPr id="23" name="Text 21"/>
          <p:cNvSpPr/>
          <p:nvPr/>
        </p:nvSpPr>
        <p:spPr>
          <a:xfrm>
            <a:off x="960834" y="4901565"/>
            <a:ext cx="178248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Salario medio anual</a:t>
            </a:r>
            <a:endParaRPr lang="en-US" sz="1250" dirty="0"/>
          </a:p>
        </p:txBody>
      </p:sp>
      <p:sp>
        <p:nvSpPr>
          <p:cNvPr id="24" name="Text 22"/>
          <p:cNvSpPr/>
          <p:nvPr/>
        </p:nvSpPr>
        <p:spPr>
          <a:xfrm>
            <a:off x="3068360" y="4901565"/>
            <a:ext cx="177867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-0.0012</a:t>
            </a:r>
            <a:endParaRPr lang="en-US" sz="1250" dirty="0"/>
          </a:p>
        </p:txBody>
      </p:sp>
      <p:sp>
        <p:nvSpPr>
          <p:cNvPr id="25" name="Text 23"/>
          <p:cNvSpPr/>
          <p:nvPr/>
        </p:nvSpPr>
        <p:spPr>
          <a:xfrm>
            <a:off x="5172075" y="4901565"/>
            <a:ext cx="178248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0.000</a:t>
            </a:r>
            <a:endParaRPr lang="en-US" sz="1250" dirty="0"/>
          </a:p>
        </p:txBody>
      </p:sp>
      <p:sp>
        <p:nvSpPr>
          <p:cNvPr id="26" name="Text 24"/>
          <p:cNvSpPr/>
          <p:nvPr/>
        </p:nvSpPr>
        <p:spPr>
          <a:xfrm>
            <a:off x="960834" y="5273754"/>
            <a:ext cx="178248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Género (dummy)</a:t>
            </a:r>
            <a:endParaRPr lang="en-US" sz="1250" dirty="0"/>
          </a:p>
        </p:txBody>
      </p:sp>
      <p:sp>
        <p:nvSpPr>
          <p:cNvPr id="27" name="Text 25"/>
          <p:cNvSpPr/>
          <p:nvPr/>
        </p:nvSpPr>
        <p:spPr>
          <a:xfrm>
            <a:off x="3068360" y="5273754"/>
            <a:ext cx="177867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-13.3821</a:t>
            </a:r>
            <a:endParaRPr lang="en-US" sz="1250" dirty="0"/>
          </a:p>
        </p:txBody>
      </p:sp>
      <p:sp>
        <p:nvSpPr>
          <p:cNvPr id="28" name="Text 26"/>
          <p:cNvSpPr/>
          <p:nvPr/>
        </p:nvSpPr>
        <p:spPr>
          <a:xfrm>
            <a:off x="5172075" y="5273754"/>
            <a:ext cx="178248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0.070</a:t>
            </a:r>
            <a:endParaRPr lang="en-US" sz="1250" dirty="0"/>
          </a:p>
        </p:txBody>
      </p:sp>
      <p:sp>
        <p:nvSpPr>
          <p:cNvPr id="29" name="Text 27"/>
          <p:cNvSpPr/>
          <p:nvPr/>
        </p:nvSpPr>
        <p:spPr>
          <a:xfrm>
            <a:off x="960834" y="5645944"/>
            <a:ext cx="178248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Interacción</a:t>
            </a:r>
            <a:endParaRPr lang="en-US" sz="1250" dirty="0"/>
          </a:p>
        </p:txBody>
      </p:sp>
      <p:sp>
        <p:nvSpPr>
          <p:cNvPr id="30" name="Text 28"/>
          <p:cNvSpPr/>
          <p:nvPr/>
        </p:nvSpPr>
        <p:spPr>
          <a:xfrm>
            <a:off x="3068360" y="5645944"/>
            <a:ext cx="177867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-0.0003</a:t>
            </a:r>
            <a:endParaRPr lang="en-US" sz="1250" dirty="0"/>
          </a:p>
        </p:txBody>
      </p:sp>
      <p:sp>
        <p:nvSpPr>
          <p:cNvPr id="31" name="Text 29"/>
          <p:cNvSpPr/>
          <p:nvPr/>
        </p:nvSpPr>
        <p:spPr>
          <a:xfrm>
            <a:off x="5172075" y="5645944"/>
            <a:ext cx="1782485"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0.517</a:t>
            </a:r>
            <a:endParaRPr lang="en-US" sz="1250" dirty="0"/>
          </a:p>
        </p:txBody>
      </p:sp>
      <p:sp>
        <p:nvSpPr>
          <p:cNvPr id="32" name="Shape 30"/>
          <p:cNvSpPr/>
          <p:nvPr/>
        </p:nvSpPr>
        <p:spPr>
          <a:xfrm>
            <a:off x="7516416" y="1709499"/>
            <a:ext cx="6327815" cy="938213"/>
          </a:xfrm>
          <a:prstGeom prst="roundRect">
            <a:avLst>
              <a:gd name="adj" fmla="val 11695"/>
            </a:avLst>
          </a:prstGeom>
          <a:solidFill>
            <a:srgbClr val="FFFFFF"/>
          </a:solidFill>
          <a:ln w="22860">
            <a:solidFill>
              <a:srgbClr val="C0C1D7"/>
            </a:solidFill>
            <a:prstDash val="solid"/>
          </a:ln>
        </p:spPr>
        <p:txBody>
          <a:bodyPr/>
          <a:lstStyle/>
          <a:p>
            <a:endParaRPr lang="es-ES"/>
          </a:p>
        </p:txBody>
      </p:sp>
      <p:sp>
        <p:nvSpPr>
          <p:cNvPr id="33" name="Shape 31"/>
          <p:cNvSpPr/>
          <p:nvPr/>
        </p:nvSpPr>
        <p:spPr>
          <a:xfrm>
            <a:off x="7493556" y="1709499"/>
            <a:ext cx="91440" cy="938213"/>
          </a:xfrm>
          <a:prstGeom prst="roundRect">
            <a:avLst>
              <a:gd name="adj" fmla="val 72930"/>
            </a:avLst>
          </a:prstGeom>
          <a:solidFill>
            <a:srgbClr val="4950BC"/>
          </a:solidFill>
          <a:ln/>
        </p:spPr>
        <p:txBody>
          <a:bodyPr/>
          <a:lstStyle/>
          <a:p>
            <a:endParaRPr lang="es-ES"/>
          </a:p>
        </p:txBody>
      </p:sp>
      <p:sp>
        <p:nvSpPr>
          <p:cNvPr id="34" name="Text 32"/>
          <p:cNvSpPr/>
          <p:nvPr/>
        </p:nvSpPr>
        <p:spPr>
          <a:xfrm>
            <a:off x="7766566" y="1891070"/>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272525"/>
                </a:solidFill>
                <a:latin typeface="Inter Bold" pitchFamily="34" charset="0"/>
                <a:ea typeface="Inter Bold" pitchFamily="34" charset="-122"/>
                <a:cs typeface="Inter Bold" pitchFamily="34" charset="-120"/>
              </a:rPr>
              <a:t>R² = 0.753</a:t>
            </a:r>
            <a:endParaRPr lang="en-US" sz="1550" dirty="0"/>
          </a:p>
        </p:txBody>
      </p:sp>
      <p:sp>
        <p:nvSpPr>
          <p:cNvPr id="35" name="Text 33"/>
          <p:cNvSpPr/>
          <p:nvPr/>
        </p:nvSpPr>
        <p:spPr>
          <a:xfrm>
            <a:off x="7766566" y="2250162"/>
            <a:ext cx="5896094"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Prácticamente igual al modelo anterior, sin mejora significativa.</a:t>
            </a:r>
            <a:endParaRPr lang="en-US" sz="1250" dirty="0"/>
          </a:p>
        </p:txBody>
      </p:sp>
      <p:sp>
        <p:nvSpPr>
          <p:cNvPr id="36" name="Shape 34"/>
          <p:cNvSpPr/>
          <p:nvPr/>
        </p:nvSpPr>
        <p:spPr>
          <a:xfrm>
            <a:off x="7516416" y="2758797"/>
            <a:ext cx="6327815" cy="938213"/>
          </a:xfrm>
          <a:prstGeom prst="roundRect">
            <a:avLst>
              <a:gd name="adj" fmla="val 11695"/>
            </a:avLst>
          </a:prstGeom>
          <a:solidFill>
            <a:srgbClr val="FFFFFF"/>
          </a:solidFill>
          <a:ln w="22860">
            <a:solidFill>
              <a:srgbClr val="C0C1D7"/>
            </a:solidFill>
            <a:prstDash val="solid"/>
          </a:ln>
        </p:spPr>
        <p:txBody>
          <a:bodyPr/>
          <a:lstStyle/>
          <a:p>
            <a:endParaRPr lang="es-ES"/>
          </a:p>
        </p:txBody>
      </p:sp>
      <p:sp>
        <p:nvSpPr>
          <p:cNvPr id="37" name="Shape 35"/>
          <p:cNvSpPr/>
          <p:nvPr/>
        </p:nvSpPr>
        <p:spPr>
          <a:xfrm>
            <a:off x="7493556" y="2758797"/>
            <a:ext cx="91440" cy="938213"/>
          </a:xfrm>
          <a:prstGeom prst="roundRect">
            <a:avLst>
              <a:gd name="adj" fmla="val 72930"/>
            </a:avLst>
          </a:prstGeom>
          <a:solidFill>
            <a:srgbClr val="4950BC"/>
          </a:solidFill>
          <a:ln/>
        </p:spPr>
        <p:txBody>
          <a:bodyPr/>
          <a:lstStyle/>
          <a:p>
            <a:endParaRPr lang="es-ES"/>
          </a:p>
        </p:txBody>
      </p:sp>
      <p:sp>
        <p:nvSpPr>
          <p:cNvPr id="38" name="Text 36"/>
          <p:cNvSpPr/>
          <p:nvPr/>
        </p:nvSpPr>
        <p:spPr>
          <a:xfrm>
            <a:off x="7766566" y="2940367"/>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272525"/>
                </a:solidFill>
                <a:latin typeface="Inter Bold" pitchFamily="34" charset="0"/>
                <a:ea typeface="Inter Bold" pitchFamily="34" charset="-122"/>
                <a:cs typeface="Inter Bold" pitchFamily="34" charset="-120"/>
              </a:rPr>
              <a:t>Efecto del salario</a:t>
            </a:r>
            <a:endParaRPr lang="en-US" sz="1550" dirty="0"/>
          </a:p>
        </p:txBody>
      </p:sp>
      <p:sp>
        <p:nvSpPr>
          <p:cNvPr id="39" name="Text 37"/>
          <p:cNvSpPr/>
          <p:nvPr/>
        </p:nvSpPr>
        <p:spPr>
          <a:xfrm>
            <a:off x="7766566" y="3299460"/>
            <a:ext cx="5896094"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-0.0012 sigue siendo significativo en ambos géneros.</a:t>
            </a:r>
            <a:endParaRPr lang="en-US" sz="1250" dirty="0"/>
          </a:p>
        </p:txBody>
      </p:sp>
      <p:sp>
        <p:nvSpPr>
          <p:cNvPr id="40" name="Shape 38"/>
          <p:cNvSpPr/>
          <p:nvPr/>
        </p:nvSpPr>
        <p:spPr>
          <a:xfrm>
            <a:off x="7516416" y="3808095"/>
            <a:ext cx="6327815" cy="938213"/>
          </a:xfrm>
          <a:prstGeom prst="roundRect">
            <a:avLst>
              <a:gd name="adj" fmla="val 11695"/>
            </a:avLst>
          </a:prstGeom>
          <a:solidFill>
            <a:srgbClr val="FFFFFF"/>
          </a:solidFill>
          <a:ln w="22860">
            <a:solidFill>
              <a:srgbClr val="C0C1D7"/>
            </a:solidFill>
            <a:prstDash val="solid"/>
          </a:ln>
        </p:spPr>
        <p:txBody>
          <a:bodyPr/>
          <a:lstStyle/>
          <a:p>
            <a:endParaRPr lang="es-ES"/>
          </a:p>
        </p:txBody>
      </p:sp>
      <p:sp>
        <p:nvSpPr>
          <p:cNvPr id="41" name="Shape 39"/>
          <p:cNvSpPr/>
          <p:nvPr/>
        </p:nvSpPr>
        <p:spPr>
          <a:xfrm>
            <a:off x="7493556" y="3808095"/>
            <a:ext cx="91440" cy="938213"/>
          </a:xfrm>
          <a:prstGeom prst="roundRect">
            <a:avLst>
              <a:gd name="adj" fmla="val 72930"/>
            </a:avLst>
          </a:prstGeom>
          <a:solidFill>
            <a:srgbClr val="4950BC"/>
          </a:solidFill>
          <a:ln/>
        </p:spPr>
        <p:txBody>
          <a:bodyPr/>
          <a:lstStyle/>
          <a:p>
            <a:endParaRPr lang="es-ES"/>
          </a:p>
        </p:txBody>
      </p:sp>
      <p:sp>
        <p:nvSpPr>
          <p:cNvPr id="42" name="Text 40"/>
          <p:cNvSpPr/>
          <p:nvPr/>
        </p:nvSpPr>
        <p:spPr>
          <a:xfrm>
            <a:off x="7766566" y="3989665"/>
            <a:ext cx="2626876" cy="248007"/>
          </a:xfrm>
          <a:prstGeom prst="rect">
            <a:avLst/>
          </a:prstGeom>
          <a:noFill/>
          <a:ln/>
        </p:spPr>
        <p:txBody>
          <a:bodyPr wrap="none" lIns="0" tIns="0" rIns="0" bIns="0" rtlCol="0" anchor="t"/>
          <a:lstStyle/>
          <a:p>
            <a:pPr marL="0" indent="0" algn="l">
              <a:lnSpc>
                <a:spcPts val="1950"/>
              </a:lnSpc>
              <a:buNone/>
            </a:pPr>
            <a:r>
              <a:rPr lang="en-US" sz="1550" b="1" dirty="0">
                <a:solidFill>
                  <a:srgbClr val="272525"/>
                </a:solidFill>
                <a:latin typeface="Inter Bold" pitchFamily="34" charset="0"/>
                <a:ea typeface="Inter Bold" pitchFamily="34" charset="-122"/>
                <a:cs typeface="Inter Bold" pitchFamily="34" charset="-120"/>
              </a:rPr>
              <a:t>Interacción no significativa</a:t>
            </a:r>
            <a:endParaRPr lang="en-US" sz="1550" dirty="0"/>
          </a:p>
        </p:txBody>
      </p:sp>
      <p:sp>
        <p:nvSpPr>
          <p:cNvPr id="43" name="Text 41"/>
          <p:cNvSpPr/>
          <p:nvPr/>
        </p:nvSpPr>
        <p:spPr>
          <a:xfrm>
            <a:off x="7766566" y="4348758"/>
            <a:ext cx="5896094"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p = 0.517 indica que el efecto del salario es similar en hombres y mujeres.</a:t>
            </a:r>
            <a:endParaRPr lang="en-US" sz="1250" dirty="0"/>
          </a:p>
        </p:txBody>
      </p:sp>
      <p:sp>
        <p:nvSpPr>
          <p:cNvPr id="44" name="Text 42"/>
          <p:cNvSpPr/>
          <p:nvPr/>
        </p:nvSpPr>
        <p:spPr>
          <a:xfrm>
            <a:off x="793790" y="6193869"/>
            <a:ext cx="13042821"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Al introducir la interacción entre salario y género, el R² se mantiene prácticamente igual (0.753 vs 0.752), sin mejora en la capacidad explicativa.</a:t>
            </a:r>
            <a:endParaRPr lang="en-US" sz="1250" dirty="0"/>
          </a:p>
        </p:txBody>
      </p:sp>
      <p:sp>
        <p:nvSpPr>
          <p:cNvPr id="45" name="Text 43"/>
          <p:cNvSpPr/>
          <p:nvPr/>
        </p:nvSpPr>
        <p:spPr>
          <a:xfrm>
            <a:off x="793790" y="6534864"/>
            <a:ext cx="13042821" cy="431959"/>
          </a:xfrm>
          <a:prstGeom prst="rect">
            <a:avLst/>
          </a:prstGeom>
          <a:noFill/>
          <a:ln/>
        </p:spPr>
        <p:txBody>
          <a:bodyPr wrap="squar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El término de interacción (-0.0003) no es significativo (p = 0.517), lo que indica que el efecto del salario sobre la emancipación es similar en hombres y mujeres. Aunque ambos grupos difieren en nivel de emancipación, la relación salario-emancipación tiene la misma pendiente.</a:t>
            </a:r>
            <a:endParaRPr lang="en-US" sz="1250" dirty="0"/>
          </a:p>
        </p:txBody>
      </p:sp>
      <p:sp>
        <p:nvSpPr>
          <p:cNvPr id="46" name="Text 44"/>
          <p:cNvSpPr/>
          <p:nvPr/>
        </p:nvSpPr>
        <p:spPr>
          <a:xfrm>
            <a:off x="793790" y="7091839"/>
            <a:ext cx="13042821"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Las diferencias de género observadas responden más a diferencias estructurales o sociales que a efectos diferenciales del salario.</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625316"/>
            <a:ext cx="8860393" cy="602456"/>
          </a:xfrm>
          <a:prstGeom prst="rect">
            <a:avLst/>
          </a:prstGeom>
          <a:noFill/>
          <a:ln/>
        </p:spPr>
        <p:txBody>
          <a:bodyPr wrap="none" lIns="0" tIns="0" rIns="0" bIns="0" rtlCol="0" anchor="t"/>
          <a:lstStyle/>
          <a:p>
            <a:pPr marL="0" indent="0" algn="l">
              <a:lnSpc>
                <a:spcPts val="4700"/>
              </a:lnSpc>
              <a:buNone/>
            </a:pPr>
            <a:r>
              <a:rPr lang="en-US" sz="3750" b="1" dirty="0">
                <a:solidFill>
                  <a:srgbClr val="000000"/>
                </a:solidFill>
                <a:latin typeface="Inter Bold" pitchFamily="34" charset="0"/>
                <a:ea typeface="Inter Bold" pitchFamily="34" charset="-122"/>
                <a:cs typeface="Inter Bold" pitchFamily="34" charset="-120"/>
              </a:rPr>
              <a:t>Conclusiones: Contraste de Hipótesis</a:t>
            </a:r>
            <a:endParaRPr lang="en-US" sz="3750" dirty="0"/>
          </a:p>
        </p:txBody>
      </p:sp>
      <p:sp>
        <p:nvSpPr>
          <p:cNvPr id="3" name="Shape 1"/>
          <p:cNvSpPr/>
          <p:nvPr/>
        </p:nvSpPr>
        <p:spPr>
          <a:xfrm>
            <a:off x="793790" y="1844635"/>
            <a:ext cx="3137773" cy="5759648"/>
          </a:xfrm>
          <a:prstGeom prst="roundRect">
            <a:avLst>
              <a:gd name="adj" fmla="val 3497"/>
            </a:avLst>
          </a:prstGeom>
          <a:solidFill>
            <a:srgbClr val="FFFFFF"/>
          </a:solidFill>
          <a:ln/>
        </p:spPr>
        <p:txBody>
          <a:bodyPr/>
          <a:lstStyle/>
          <a:p>
            <a:endParaRPr lang="es-ES"/>
          </a:p>
        </p:txBody>
      </p:sp>
      <p:sp>
        <p:nvSpPr>
          <p:cNvPr id="4" name="Shape 2"/>
          <p:cNvSpPr/>
          <p:nvPr/>
        </p:nvSpPr>
        <p:spPr>
          <a:xfrm>
            <a:off x="793790" y="1821775"/>
            <a:ext cx="3137773" cy="91440"/>
          </a:xfrm>
          <a:prstGeom prst="roundRect">
            <a:avLst>
              <a:gd name="adj" fmla="val 88558"/>
            </a:avLst>
          </a:prstGeom>
          <a:solidFill>
            <a:srgbClr val="4950BC"/>
          </a:solidFill>
          <a:ln/>
        </p:spPr>
        <p:txBody>
          <a:bodyPr/>
          <a:lstStyle/>
          <a:p>
            <a:endParaRPr lang="es-ES"/>
          </a:p>
        </p:txBody>
      </p:sp>
      <p:sp>
        <p:nvSpPr>
          <p:cNvPr id="5" name="Shape 3"/>
          <p:cNvSpPr/>
          <p:nvPr/>
        </p:nvSpPr>
        <p:spPr>
          <a:xfrm>
            <a:off x="2073473" y="1555432"/>
            <a:ext cx="578406" cy="578406"/>
          </a:xfrm>
          <a:prstGeom prst="roundRect">
            <a:avLst>
              <a:gd name="adj" fmla="val 158090"/>
            </a:avLst>
          </a:prstGeom>
          <a:solidFill>
            <a:srgbClr val="4950BC"/>
          </a:solidFill>
          <a:ln/>
        </p:spPr>
        <p:txBody>
          <a:bodyPr/>
          <a:lstStyle/>
          <a:p>
            <a:endParaRPr lang="es-ES"/>
          </a:p>
        </p:txBody>
      </p:sp>
      <p:sp>
        <p:nvSpPr>
          <p:cNvPr id="6" name="Text 4"/>
          <p:cNvSpPr/>
          <p:nvPr/>
        </p:nvSpPr>
        <p:spPr>
          <a:xfrm>
            <a:off x="2246948" y="1699974"/>
            <a:ext cx="231338" cy="289203"/>
          </a:xfrm>
          <a:prstGeom prst="rect">
            <a:avLst/>
          </a:prstGeom>
          <a:noFill/>
          <a:ln/>
        </p:spPr>
        <p:txBody>
          <a:bodyPr wrap="none" lIns="0" tIns="0" rIns="0" bIns="0" rtlCol="0" anchor="t"/>
          <a:lstStyle/>
          <a:p>
            <a:pPr marL="0" indent="0" algn="l">
              <a:lnSpc>
                <a:spcPts val="2650"/>
              </a:lnSpc>
              <a:buNone/>
            </a:pPr>
            <a:r>
              <a:rPr lang="en-US" sz="1800" b="1" dirty="0">
                <a:solidFill>
                  <a:srgbClr val="FFFFFF"/>
                </a:solidFill>
                <a:latin typeface="Inter Bold" pitchFamily="34" charset="0"/>
                <a:ea typeface="Inter Bold" pitchFamily="34" charset="-122"/>
                <a:cs typeface="Inter Bold" pitchFamily="34" charset="-120"/>
              </a:rPr>
              <a:t>1</a:t>
            </a:r>
            <a:endParaRPr lang="en-US" sz="1800" dirty="0"/>
          </a:p>
        </p:txBody>
      </p:sp>
      <p:sp>
        <p:nvSpPr>
          <p:cNvPr id="7" name="Text 5"/>
          <p:cNvSpPr/>
          <p:nvPr/>
        </p:nvSpPr>
        <p:spPr>
          <a:xfrm>
            <a:off x="1009412" y="2326600"/>
            <a:ext cx="2409944" cy="301228"/>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Hipótesis 1</a:t>
            </a:r>
            <a:endParaRPr lang="en-US" sz="1850" dirty="0"/>
          </a:p>
        </p:txBody>
      </p:sp>
      <p:sp>
        <p:nvSpPr>
          <p:cNvPr id="8" name="Text 6"/>
          <p:cNvSpPr/>
          <p:nvPr/>
        </p:nvSpPr>
        <p:spPr>
          <a:xfrm>
            <a:off x="1009412" y="2726055"/>
            <a:ext cx="2706529" cy="1426369"/>
          </a:xfrm>
          <a:prstGeom prst="rect">
            <a:avLst/>
          </a:prstGeom>
          <a:noFill/>
          <a:ln/>
        </p:spPr>
        <p:txBody>
          <a:bodyPr wrap="square" lIns="0" tIns="0" rIns="0" bIns="0" rtlCol="0" anchor="t"/>
          <a:lstStyle/>
          <a:p>
            <a:pPr marL="0" indent="0" algn="l">
              <a:lnSpc>
                <a:spcPts val="2200"/>
              </a:lnSpc>
              <a:buNone/>
            </a:pPr>
            <a:r>
              <a:rPr lang="en-US" sz="1500" b="1" dirty="0">
                <a:solidFill>
                  <a:srgbClr val="272525"/>
                </a:solidFill>
                <a:latin typeface="Inter" pitchFamily="34" charset="0"/>
                <a:ea typeface="Inter" pitchFamily="34" charset="-122"/>
                <a:cs typeface="Inter" pitchFamily="34" charset="-120"/>
              </a:rPr>
              <a:t>Existen diferencias significativas entre comunidades autónomas en los niveles de emancipación juvenil.</a:t>
            </a:r>
            <a:endParaRPr lang="en-US" sz="1500" dirty="0"/>
          </a:p>
        </p:txBody>
      </p:sp>
      <p:sp>
        <p:nvSpPr>
          <p:cNvPr id="9" name="Text 7"/>
          <p:cNvSpPr/>
          <p:nvPr/>
        </p:nvSpPr>
        <p:spPr>
          <a:xfrm>
            <a:off x="1009412" y="4250650"/>
            <a:ext cx="2706529" cy="1711642"/>
          </a:xfrm>
          <a:prstGeom prst="rect">
            <a:avLst/>
          </a:prstGeom>
          <a:noFill/>
          <a:ln/>
        </p:spPr>
        <p:txBody>
          <a:bodyPr wrap="square" lIns="0" tIns="0" rIns="0" bIns="0" rtlCol="0" anchor="t"/>
          <a:lstStyle/>
          <a:p>
            <a:pPr marL="0" indent="0" algn="l">
              <a:lnSpc>
                <a:spcPts val="2200"/>
              </a:lnSpc>
              <a:buNone/>
            </a:pPr>
            <a:r>
              <a:rPr lang="en-US" sz="1500" dirty="0">
                <a:solidFill>
                  <a:srgbClr val="272525"/>
                </a:solidFill>
                <a:latin typeface="Inter" pitchFamily="34" charset="0"/>
                <a:ea typeface="Inter" pitchFamily="34" charset="-122"/>
                <a:cs typeface="Inter" pitchFamily="34" charset="-120"/>
              </a:rPr>
              <a:t>✓ </a:t>
            </a:r>
            <a:r>
              <a:rPr lang="en-US" sz="1500" b="1" dirty="0">
                <a:solidFill>
                  <a:srgbClr val="272525"/>
                </a:solidFill>
                <a:latin typeface="Inter" pitchFamily="34" charset="0"/>
                <a:ea typeface="Inter" pitchFamily="34" charset="-122"/>
                <a:cs typeface="Inter" pitchFamily="34" charset="-120"/>
              </a:rPr>
              <a:t>CONFIRMADA</a:t>
            </a:r>
            <a:r>
              <a:rPr lang="en-US" sz="1500" dirty="0">
                <a:solidFill>
                  <a:srgbClr val="272525"/>
                </a:solidFill>
                <a:latin typeface="Inter" pitchFamily="34" charset="0"/>
                <a:ea typeface="Inter" pitchFamily="34" charset="-122"/>
                <a:cs typeface="Inter" pitchFamily="34" charset="-120"/>
              </a:rPr>
              <a:t> - Los rankings muestran diferencias claras y estables entre CCAA, con extremos bien diferenciados (desde Extremadura hasta Madrid).</a:t>
            </a:r>
            <a:endParaRPr lang="en-US" sz="1500" dirty="0"/>
          </a:p>
        </p:txBody>
      </p:sp>
      <p:sp>
        <p:nvSpPr>
          <p:cNvPr id="10" name="Shape 8"/>
          <p:cNvSpPr/>
          <p:nvPr/>
        </p:nvSpPr>
        <p:spPr>
          <a:xfrm>
            <a:off x="4095393" y="1844635"/>
            <a:ext cx="3137892" cy="5759648"/>
          </a:xfrm>
          <a:prstGeom prst="roundRect">
            <a:avLst>
              <a:gd name="adj" fmla="val 3497"/>
            </a:avLst>
          </a:prstGeom>
          <a:solidFill>
            <a:srgbClr val="FFFFFF"/>
          </a:solidFill>
          <a:ln/>
        </p:spPr>
        <p:txBody>
          <a:bodyPr/>
          <a:lstStyle/>
          <a:p>
            <a:endParaRPr lang="es-ES"/>
          </a:p>
        </p:txBody>
      </p:sp>
      <p:sp>
        <p:nvSpPr>
          <p:cNvPr id="11" name="Shape 9"/>
          <p:cNvSpPr/>
          <p:nvPr/>
        </p:nvSpPr>
        <p:spPr>
          <a:xfrm>
            <a:off x="4095393" y="1821775"/>
            <a:ext cx="3137892" cy="91440"/>
          </a:xfrm>
          <a:prstGeom prst="roundRect">
            <a:avLst>
              <a:gd name="adj" fmla="val 88558"/>
            </a:avLst>
          </a:prstGeom>
          <a:solidFill>
            <a:srgbClr val="4950BC"/>
          </a:solidFill>
          <a:ln/>
        </p:spPr>
        <p:txBody>
          <a:bodyPr/>
          <a:lstStyle/>
          <a:p>
            <a:endParaRPr lang="es-ES"/>
          </a:p>
        </p:txBody>
      </p:sp>
      <p:sp>
        <p:nvSpPr>
          <p:cNvPr id="12" name="Shape 10"/>
          <p:cNvSpPr/>
          <p:nvPr/>
        </p:nvSpPr>
        <p:spPr>
          <a:xfrm>
            <a:off x="5375077" y="1555432"/>
            <a:ext cx="578406" cy="578406"/>
          </a:xfrm>
          <a:prstGeom prst="roundRect">
            <a:avLst>
              <a:gd name="adj" fmla="val 158090"/>
            </a:avLst>
          </a:prstGeom>
          <a:solidFill>
            <a:srgbClr val="4950BC"/>
          </a:solidFill>
          <a:ln/>
        </p:spPr>
        <p:txBody>
          <a:bodyPr/>
          <a:lstStyle/>
          <a:p>
            <a:endParaRPr lang="es-ES"/>
          </a:p>
        </p:txBody>
      </p:sp>
      <p:sp>
        <p:nvSpPr>
          <p:cNvPr id="13" name="Text 11"/>
          <p:cNvSpPr/>
          <p:nvPr/>
        </p:nvSpPr>
        <p:spPr>
          <a:xfrm>
            <a:off x="5548551" y="1699974"/>
            <a:ext cx="231338" cy="289203"/>
          </a:xfrm>
          <a:prstGeom prst="rect">
            <a:avLst/>
          </a:prstGeom>
          <a:noFill/>
          <a:ln/>
        </p:spPr>
        <p:txBody>
          <a:bodyPr wrap="none" lIns="0" tIns="0" rIns="0" bIns="0" rtlCol="0" anchor="t"/>
          <a:lstStyle/>
          <a:p>
            <a:pPr marL="0" indent="0" algn="l">
              <a:lnSpc>
                <a:spcPts val="2650"/>
              </a:lnSpc>
              <a:buNone/>
            </a:pPr>
            <a:r>
              <a:rPr lang="en-US" sz="1800" b="1" dirty="0">
                <a:solidFill>
                  <a:srgbClr val="FFFFFF"/>
                </a:solidFill>
                <a:latin typeface="Inter Bold" pitchFamily="34" charset="0"/>
                <a:ea typeface="Inter Bold" pitchFamily="34" charset="-122"/>
                <a:cs typeface="Inter Bold" pitchFamily="34" charset="-120"/>
              </a:rPr>
              <a:t>2</a:t>
            </a:r>
            <a:endParaRPr lang="en-US" sz="1800" dirty="0"/>
          </a:p>
        </p:txBody>
      </p:sp>
      <p:sp>
        <p:nvSpPr>
          <p:cNvPr id="14" name="Text 12"/>
          <p:cNvSpPr/>
          <p:nvPr/>
        </p:nvSpPr>
        <p:spPr>
          <a:xfrm>
            <a:off x="4311015" y="2326600"/>
            <a:ext cx="2409944" cy="301228"/>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Hipótesis 2</a:t>
            </a:r>
            <a:endParaRPr lang="en-US" sz="1850" dirty="0"/>
          </a:p>
        </p:txBody>
      </p:sp>
      <p:sp>
        <p:nvSpPr>
          <p:cNvPr id="15" name="Text 13"/>
          <p:cNvSpPr/>
          <p:nvPr/>
        </p:nvSpPr>
        <p:spPr>
          <a:xfrm>
            <a:off x="4311015" y="2726055"/>
            <a:ext cx="2706648" cy="1141095"/>
          </a:xfrm>
          <a:prstGeom prst="rect">
            <a:avLst/>
          </a:prstGeom>
          <a:noFill/>
          <a:ln/>
        </p:spPr>
        <p:txBody>
          <a:bodyPr wrap="square" lIns="0" tIns="0" rIns="0" bIns="0" rtlCol="0" anchor="t"/>
          <a:lstStyle/>
          <a:p>
            <a:pPr marL="0" indent="0" algn="l">
              <a:lnSpc>
                <a:spcPts val="2200"/>
              </a:lnSpc>
              <a:buNone/>
            </a:pPr>
            <a:r>
              <a:rPr lang="en-US" sz="1500" b="1" dirty="0">
                <a:solidFill>
                  <a:srgbClr val="272525"/>
                </a:solidFill>
                <a:latin typeface="Inter" pitchFamily="34" charset="0"/>
                <a:ea typeface="Inter" pitchFamily="34" charset="-122"/>
                <a:cs typeface="Inter" pitchFamily="34" charset="-120"/>
              </a:rPr>
              <a:t>La relación entre salario y emancipación se mantiene estable en el periodo 2018–2020.</a:t>
            </a:r>
            <a:endParaRPr lang="en-US" sz="1500" dirty="0"/>
          </a:p>
        </p:txBody>
      </p:sp>
      <p:sp>
        <p:nvSpPr>
          <p:cNvPr id="16" name="Text 14"/>
          <p:cNvSpPr/>
          <p:nvPr/>
        </p:nvSpPr>
        <p:spPr>
          <a:xfrm>
            <a:off x="4311015" y="3965377"/>
            <a:ext cx="2706648" cy="1711642"/>
          </a:xfrm>
          <a:prstGeom prst="rect">
            <a:avLst/>
          </a:prstGeom>
          <a:noFill/>
          <a:ln/>
        </p:spPr>
        <p:txBody>
          <a:bodyPr wrap="square" lIns="0" tIns="0" rIns="0" bIns="0" rtlCol="0" anchor="t"/>
          <a:lstStyle/>
          <a:p>
            <a:pPr marL="0" indent="0" algn="l">
              <a:lnSpc>
                <a:spcPts val="2200"/>
              </a:lnSpc>
              <a:buNone/>
            </a:pPr>
            <a:r>
              <a:rPr lang="en-US" sz="1500" dirty="0">
                <a:solidFill>
                  <a:srgbClr val="272525"/>
                </a:solidFill>
                <a:latin typeface="Inter" pitchFamily="34" charset="0"/>
                <a:ea typeface="Inter" pitchFamily="34" charset="-122"/>
                <a:cs typeface="Inter" pitchFamily="34" charset="-120"/>
              </a:rPr>
              <a:t>✓ </a:t>
            </a:r>
            <a:r>
              <a:rPr lang="en-US" sz="1500" b="1" dirty="0">
                <a:solidFill>
                  <a:srgbClr val="272525"/>
                </a:solidFill>
                <a:latin typeface="Inter" pitchFamily="34" charset="0"/>
                <a:ea typeface="Inter" pitchFamily="34" charset="-122"/>
                <a:cs typeface="Inter" pitchFamily="34" charset="-120"/>
              </a:rPr>
              <a:t>CONFIRMADA</a:t>
            </a:r>
            <a:r>
              <a:rPr lang="en-US" sz="1500" dirty="0">
                <a:solidFill>
                  <a:srgbClr val="272525"/>
                </a:solidFill>
                <a:latin typeface="Inter" pitchFamily="34" charset="0"/>
                <a:ea typeface="Inter" pitchFamily="34" charset="-122"/>
                <a:cs typeface="Inter" pitchFamily="34" charset="-120"/>
              </a:rPr>
              <a:t> - Los coeficientes de regresión se mantienen consistentes (-0.0013 a -0.0012) y significativos en todos los años analizados.</a:t>
            </a:r>
            <a:endParaRPr lang="en-US" sz="1500" dirty="0"/>
          </a:p>
        </p:txBody>
      </p:sp>
      <p:sp>
        <p:nvSpPr>
          <p:cNvPr id="17" name="Shape 15"/>
          <p:cNvSpPr/>
          <p:nvPr/>
        </p:nvSpPr>
        <p:spPr>
          <a:xfrm>
            <a:off x="7397115" y="1844635"/>
            <a:ext cx="3137773" cy="5759648"/>
          </a:xfrm>
          <a:prstGeom prst="roundRect">
            <a:avLst>
              <a:gd name="adj" fmla="val 3497"/>
            </a:avLst>
          </a:prstGeom>
          <a:solidFill>
            <a:srgbClr val="FFFFFF"/>
          </a:solidFill>
          <a:ln/>
        </p:spPr>
        <p:txBody>
          <a:bodyPr/>
          <a:lstStyle/>
          <a:p>
            <a:endParaRPr lang="es-ES"/>
          </a:p>
        </p:txBody>
      </p:sp>
      <p:sp>
        <p:nvSpPr>
          <p:cNvPr id="18" name="Shape 16"/>
          <p:cNvSpPr/>
          <p:nvPr/>
        </p:nvSpPr>
        <p:spPr>
          <a:xfrm>
            <a:off x="7397115" y="1821775"/>
            <a:ext cx="3137773" cy="91440"/>
          </a:xfrm>
          <a:prstGeom prst="roundRect">
            <a:avLst>
              <a:gd name="adj" fmla="val 88558"/>
            </a:avLst>
          </a:prstGeom>
          <a:solidFill>
            <a:srgbClr val="4950BC"/>
          </a:solidFill>
          <a:ln/>
        </p:spPr>
        <p:txBody>
          <a:bodyPr/>
          <a:lstStyle/>
          <a:p>
            <a:endParaRPr lang="es-ES"/>
          </a:p>
        </p:txBody>
      </p:sp>
      <p:sp>
        <p:nvSpPr>
          <p:cNvPr id="19" name="Shape 17"/>
          <p:cNvSpPr/>
          <p:nvPr/>
        </p:nvSpPr>
        <p:spPr>
          <a:xfrm>
            <a:off x="8676799" y="1555432"/>
            <a:ext cx="578406" cy="578406"/>
          </a:xfrm>
          <a:prstGeom prst="roundRect">
            <a:avLst>
              <a:gd name="adj" fmla="val 158090"/>
            </a:avLst>
          </a:prstGeom>
          <a:solidFill>
            <a:srgbClr val="4950BC"/>
          </a:solidFill>
          <a:ln/>
        </p:spPr>
        <p:txBody>
          <a:bodyPr/>
          <a:lstStyle/>
          <a:p>
            <a:endParaRPr lang="es-ES"/>
          </a:p>
        </p:txBody>
      </p:sp>
      <p:sp>
        <p:nvSpPr>
          <p:cNvPr id="20" name="Text 18"/>
          <p:cNvSpPr/>
          <p:nvPr/>
        </p:nvSpPr>
        <p:spPr>
          <a:xfrm>
            <a:off x="8850273" y="1699974"/>
            <a:ext cx="231338" cy="289203"/>
          </a:xfrm>
          <a:prstGeom prst="rect">
            <a:avLst/>
          </a:prstGeom>
          <a:noFill/>
          <a:ln/>
        </p:spPr>
        <p:txBody>
          <a:bodyPr wrap="none" lIns="0" tIns="0" rIns="0" bIns="0" rtlCol="0" anchor="t"/>
          <a:lstStyle/>
          <a:p>
            <a:pPr marL="0" indent="0" algn="l">
              <a:lnSpc>
                <a:spcPts val="2650"/>
              </a:lnSpc>
              <a:buNone/>
            </a:pPr>
            <a:r>
              <a:rPr lang="en-US" sz="1800" b="1" dirty="0">
                <a:solidFill>
                  <a:srgbClr val="FFFFFF"/>
                </a:solidFill>
                <a:latin typeface="Inter Bold" pitchFamily="34" charset="0"/>
                <a:ea typeface="Inter Bold" pitchFamily="34" charset="-122"/>
                <a:cs typeface="Inter Bold" pitchFamily="34" charset="-120"/>
              </a:rPr>
              <a:t>3</a:t>
            </a:r>
            <a:endParaRPr lang="en-US" sz="1800" dirty="0"/>
          </a:p>
        </p:txBody>
      </p:sp>
      <p:sp>
        <p:nvSpPr>
          <p:cNvPr id="21" name="Text 19"/>
          <p:cNvSpPr/>
          <p:nvPr/>
        </p:nvSpPr>
        <p:spPr>
          <a:xfrm>
            <a:off x="7612737" y="2326600"/>
            <a:ext cx="2409944" cy="301228"/>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Hipótesis 3</a:t>
            </a:r>
            <a:endParaRPr lang="en-US" sz="1850" dirty="0"/>
          </a:p>
        </p:txBody>
      </p:sp>
      <p:sp>
        <p:nvSpPr>
          <p:cNvPr id="22" name="Text 20"/>
          <p:cNvSpPr/>
          <p:nvPr/>
        </p:nvSpPr>
        <p:spPr>
          <a:xfrm>
            <a:off x="7612737" y="2726055"/>
            <a:ext cx="2706529" cy="1426369"/>
          </a:xfrm>
          <a:prstGeom prst="rect">
            <a:avLst/>
          </a:prstGeom>
          <a:noFill/>
          <a:ln/>
        </p:spPr>
        <p:txBody>
          <a:bodyPr wrap="square" lIns="0" tIns="0" rIns="0" bIns="0" rtlCol="0" anchor="t"/>
          <a:lstStyle/>
          <a:p>
            <a:pPr marL="0" indent="0" algn="l">
              <a:lnSpc>
                <a:spcPts val="2200"/>
              </a:lnSpc>
              <a:buNone/>
            </a:pPr>
            <a:r>
              <a:rPr lang="en-US" sz="1500" b="1" dirty="0">
                <a:solidFill>
                  <a:srgbClr val="272525"/>
                </a:solidFill>
                <a:latin typeface="Inter" pitchFamily="34" charset="0"/>
                <a:ea typeface="Inter" pitchFamily="34" charset="-122"/>
                <a:cs typeface="Inter" pitchFamily="34" charset="-120"/>
              </a:rPr>
              <a:t>El salario no explica completamente la emancipación juvenil, lo que sugiere la intervención de otros factores.</a:t>
            </a:r>
            <a:endParaRPr lang="en-US" sz="1500" dirty="0"/>
          </a:p>
        </p:txBody>
      </p:sp>
      <p:sp>
        <p:nvSpPr>
          <p:cNvPr id="23" name="Text 21"/>
          <p:cNvSpPr/>
          <p:nvPr/>
        </p:nvSpPr>
        <p:spPr>
          <a:xfrm>
            <a:off x="7612737" y="4250650"/>
            <a:ext cx="2706529" cy="3138011"/>
          </a:xfrm>
          <a:prstGeom prst="rect">
            <a:avLst/>
          </a:prstGeom>
          <a:noFill/>
          <a:ln/>
        </p:spPr>
        <p:txBody>
          <a:bodyPr wrap="square" lIns="0" tIns="0" rIns="0" bIns="0" rtlCol="0" anchor="t"/>
          <a:lstStyle/>
          <a:p>
            <a:pPr marL="0" indent="0" algn="l">
              <a:lnSpc>
                <a:spcPts val="2200"/>
              </a:lnSpc>
              <a:buNone/>
            </a:pPr>
            <a:r>
              <a:rPr lang="en-US" sz="1500" dirty="0">
                <a:solidFill>
                  <a:srgbClr val="272525"/>
                </a:solidFill>
                <a:latin typeface="Inter" pitchFamily="34" charset="0"/>
                <a:ea typeface="Inter" pitchFamily="34" charset="-122"/>
                <a:cs typeface="Inter" pitchFamily="34" charset="-120"/>
              </a:rPr>
              <a:t>✓ </a:t>
            </a:r>
            <a:r>
              <a:rPr lang="en-US" sz="1500" b="1" dirty="0">
                <a:solidFill>
                  <a:srgbClr val="272525"/>
                </a:solidFill>
                <a:latin typeface="Inter" pitchFamily="34" charset="0"/>
                <a:ea typeface="Inter" pitchFamily="34" charset="-122"/>
                <a:cs typeface="Inter" pitchFamily="34" charset="-120"/>
              </a:rPr>
              <a:t>CONFIRMADA</a:t>
            </a:r>
            <a:r>
              <a:rPr lang="en-US" sz="1500" dirty="0">
                <a:solidFill>
                  <a:srgbClr val="272525"/>
                </a:solidFill>
                <a:latin typeface="Inter" pitchFamily="34" charset="0"/>
                <a:ea typeface="Inter" pitchFamily="34" charset="-122"/>
                <a:cs typeface="Inter" pitchFamily="34" charset="-120"/>
              </a:rPr>
              <a:t> - El modelo conjunto explica el 75.2% de la variación, dejando un 24.8% sin explicar. Esto confirma que existen otros factores relevantes (mercado laboral, acceso a vivienda, factores culturales, políticas públicas) que influyen en la emancipación más allá del salario.</a:t>
            </a:r>
            <a:endParaRPr lang="en-US" sz="1500" dirty="0"/>
          </a:p>
        </p:txBody>
      </p:sp>
      <p:sp>
        <p:nvSpPr>
          <p:cNvPr id="24" name="Shape 22"/>
          <p:cNvSpPr/>
          <p:nvPr/>
        </p:nvSpPr>
        <p:spPr>
          <a:xfrm>
            <a:off x="10698718" y="1844635"/>
            <a:ext cx="3137892" cy="5759648"/>
          </a:xfrm>
          <a:prstGeom prst="roundRect">
            <a:avLst>
              <a:gd name="adj" fmla="val 3497"/>
            </a:avLst>
          </a:prstGeom>
          <a:solidFill>
            <a:srgbClr val="FFFFFF"/>
          </a:solidFill>
          <a:ln/>
        </p:spPr>
        <p:txBody>
          <a:bodyPr/>
          <a:lstStyle/>
          <a:p>
            <a:endParaRPr lang="es-ES"/>
          </a:p>
        </p:txBody>
      </p:sp>
      <p:sp>
        <p:nvSpPr>
          <p:cNvPr id="25" name="Shape 23"/>
          <p:cNvSpPr/>
          <p:nvPr/>
        </p:nvSpPr>
        <p:spPr>
          <a:xfrm>
            <a:off x="10698718" y="1821775"/>
            <a:ext cx="3137892" cy="91440"/>
          </a:xfrm>
          <a:prstGeom prst="roundRect">
            <a:avLst>
              <a:gd name="adj" fmla="val 88558"/>
            </a:avLst>
          </a:prstGeom>
          <a:solidFill>
            <a:srgbClr val="4950BC"/>
          </a:solidFill>
          <a:ln/>
        </p:spPr>
        <p:txBody>
          <a:bodyPr/>
          <a:lstStyle/>
          <a:p>
            <a:endParaRPr lang="es-ES"/>
          </a:p>
        </p:txBody>
      </p:sp>
      <p:sp>
        <p:nvSpPr>
          <p:cNvPr id="26" name="Shape 24"/>
          <p:cNvSpPr/>
          <p:nvPr/>
        </p:nvSpPr>
        <p:spPr>
          <a:xfrm>
            <a:off x="11978402" y="1555432"/>
            <a:ext cx="578406" cy="578406"/>
          </a:xfrm>
          <a:prstGeom prst="roundRect">
            <a:avLst>
              <a:gd name="adj" fmla="val 158090"/>
            </a:avLst>
          </a:prstGeom>
          <a:solidFill>
            <a:srgbClr val="4950BC"/>
          </a:solidFill>
          <a:ln/>
        </p:spPr>
        <p:txBody>
          <a:bodyPr/>
          <a:lstStyle/>
          <a:p>
            <a:endParaRPr lang="es-ES"/>
          </a:p>
        </p:txBody>
      </p:sp>
      <p:sp>
        <p:nvSpPr>
          <p:cNvPr id="27" name="Text 25"/>
          <p:cNvSpPr/>
          <p:nvPr/>
        </p:nvSpPr>
        <p:spPr>
          <a:xfrm>
            <a:off x="12151876" y="1699974"/>
            <a:ext cx="231338" cy="289203"/>
          </a:xfrm>
          <a:prstGeom prst="rect">
            <a:avLst/>
          </a:prstGeom>
          <a:noFill/>
          <a:ln/>
        </p:spPr>
        <p:txBody>
          <a:bodyPr wrap="none" lIns="0" tIns="0" rIns="0" bIns="0" rtlCol="0" anchor="t"/>
          <a:lstStyle/>
          <a:p>
            <a:pPr marL="0" indent="0" algn="l">
              <a:lnSpc>
                <a:spcPts val="2650"/>
              </a:lnSpc>
              <a:buNone/>
            </a:pPr>
            <a:r>
              <a:rPr lang="en-US" sz="1800" b="1" dirty="0">
                <a:solidFill>
                  <a:srgbClr val="FFFFFF"/>
                </a:solidFill>
                <a:latin typeface="Inter Bold" pitchFamily="34" charset="0"/>
                <a:ea typeface="Inter Bold" pitchFamily="34" charset="-122"/>
                <a:cs typeface="Inter Bold" pitchFamily="34" charset="-120"/>
              </a:rPr>
              <a:t>4</a:t>
            </a:r>
            <a:endParaRPr lang="en-US" sz="1800" dirty="0"/>
          </a:p>
        </p:txBody>
      </p:sp>
      <p:sp>
        <p:nvSpPr>
          <p:cNvPr id="28" name="Text 26"/>
          <p:cNvSpPr/>
          <p:nvPr/>
        </p:nvSpPr>
        <p:spPr>
          <a:xfrm>
            <a:off x="10914340" y="2326600"/>
            <a:ext cx="2409944" cy="301228"/>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Hipótesis 4</a:t>
            </a:r>
            <a:endParaRPr lang="en-US" sz="1850" dirty="0"/>
          </a:p>
        </p:txBody>
      </p:sp>
      <p:sp>
        <p:nvSpPr>
          <p:cNvPr id="29" name="Text 27"/>
          <p:cNvSpPr/>
          <p:nvPr/>
        </p:nvSpPr>
        <p:spPr>
          <a:xfrm>
            <a:off x="10914340" y="2726055"/>
            <a:ext cx="2706648" cy="1141095"/>
          </a:xfrm>
          <a:prstGeom prst="rect">
            <a:avLst/>
          </a:prstGeom>
          <a:noFill/>
          <a:ln/>
        </p:spPr>
        <p:txBody>
          <a:bodyPr wrap="square" lIns="0" tIns="0" rIns="0" bIns="0" rtlCol="0" anchor="t"/>
          <a:lstStyle/>
          <a:p>
            <a:pPr marL="0" indent="0" algn="l">
              <a:lnSpc>
                <a:spcPts val="2200"/>
              </a:lnSpc>
              <a:buNone/>
            </a:pPr>
            <a:r>
              <a:rPr lang="en-US" sz="1500" b="1" dirty="0">
                <a:solidFill>
                  <a:srgbClr val="272525"/>
                </a:solidFill>
                <a:latin typeface="Inter" pitchFamily="34" charset="0"/>
                <a:ea typeface="Inter" pitchFamily="34" charset="-122"/>
                <a:cs typeface="Inter" pitchFamily="34" charset="-120"/>
              </a:rPr>
              <a:t>El efecto del salario sobre la emancipación no difiere significativamente entre hombres y mujeres.</a:t>
            </a:r>
            <a:endParaRPr lang="en-US" sz="1500" dirty="0"/>
          </a:p>
        </p:txBody>
      </p:sp>
      <p:sp>
        <p:nvSpPr>
          <p:cNvPr id="30" name="Text 28"/>
          <p:cNvSpPr/>
          <p:nvPr/>
        </p:nvSpPr>
        <p:spPr>
          <a:xfrm>
            <a:off x="10914340" y="3965377"/>
            <a:ext cx="2706648" cy="2282190"/>
          </a:xfrm>
          <a:prstGeom prst="rect">
            <a:avLst/>
          </a:prstGeom>
          <a:noFill/>
          <a:ln/>
        </p:spPr>
        <p:txBody>
          <a:bodyPr wrap="square" lIns="0" tIns="0" rIns="0" bIns="0" rtlCol="0" anchor="t"/>
          <a:lstStyle/>
          <a:p>
            <a:pPr marL="0" indent="0" algn="l">
              <a:lnSpc>
                <a:spcPts val="2200"/>
              </a:lnSpc>
              <a:buNone/>
            </a:pPr>
            <a:r>
              <a:rPr lang="en-US" sz="1500" dirty="0">
                <a:solidFill>
                  <a:srgbClr val="272525"/>
                </a:solidFill>
                <a:latin typeface="Inter" pitchFamily="34" charset="0"/>
                <a:ea typeface="Inter" pitchFamily="34" charset="-122"/>
                <a:cs typeface="Inter" pitchFamily="34" charset="-120"/>
              </a:rPr>
              <a:t>✓ </a:t>
            </a:r>
            <a:r>
              <a:rPr lang="en-US" sz="1500" b="1" dirty="0">
                <a:solidFill>
                  <a:srgbClr val="272525"/>
                </a:solidFill>
                <a:latin typeface="Inter" pitchFamily="34" charset="0"/>
                <a:ea typeface="Inter" pitchFamily="34" charset="-122"/>
                <a:cs typeface="Inter" pitchFamily="34" charset="-120"/>
              </a:rPr>
              <a:t>CONFIRMADA</a:t>
            </a:r>
            <a:r>
              <a:rPr lang="en-US" sz="1500" dirty="0">
                <a:solidFill>
                  <a:srgbClr val="272525"/>
                </a:solidFill>
                <a:latin typeface="Inter" pitchFamily="34" charset="0"/>
                <a:ea typeface="Inter" pitchFamily="34" charset="-122"/>
                <a:cs typeface="Inter" pitchFamily="34" charset="-120"/>
              </a:rPr>
              <a:t> - El término de interacción no es significativo (p = 0.517), confirmando que el efecto del salario es similar en ambos géneros, aunque los niveles de emancipación difieren.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1529</Words>
  <Application>Microsoft Office PowerPoint</Application>
  <PresentationFormat>Personalizado</PresentationFormat>
  <Paragraphs>263</Paragraphs>
  <Slides>16</Slides>
  <Notes>16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Inter Bold</vt:lpstr>
      <vt:lpstr>Arial</vt:lpstr>
      <vt:lpstr>Inter</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juan muñoz moreno</cp:lastModifiedBy>
  <cp:revision>2</cp:revision>
  <dcterms:created xsi:type="dcterms:W3CDTF">2026-04-12T22:41:33Z</dcterms:created>
  <dcterms:modified xsi:type="dcterms:W3CDTF">2026-04-12T22:44:34Z</dcterms:modified>
</cp:coreProperties>
</file>